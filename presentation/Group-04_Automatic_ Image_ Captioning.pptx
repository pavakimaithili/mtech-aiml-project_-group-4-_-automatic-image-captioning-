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8288000" cy="10287000"/>
  <p:notesSz cx="6858000" cy="9144000"/>
  <p:embeddedFontLst>
    <p:embeddedFont>
      <p:font typeface="Canva Sans" panose="020B0604020202020204" charset="0"/>
      <p:regular r:id="rId29"/>
    </p:embeddedFont>
    <p:embeddedFont>
      <p:font typeface="Lora" panose="020F0502020204030204" pitchFamily="2" charset="0"/>
      <p:regular r:id="rId30"/>
    </p:embeddedFont>
    <p:embeddedFont>
      <p:font typeface="Lora Bold" panose="020B0604020202020204" charset="0"/>
      <p:bold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9" d="100"/>
          <a:sy n="49" d="100"/>
        </p:scale>
        <p:origin x="1042"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5.svg"/><Relationship Id="rId7" Type="http://schemas.openxmlformats.org/officeDocument/2006/relationships/image" Target="../media/image23.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5.svg"/><Relationship Id="rId7" Type="http://schemas.openxmlformats.org/officeDocument/2006/relationships/image" Target="../media/image28.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5.svg"/><Relationship Id="rId7" Type="http://schemas.openxmlformats.org/officeDocument/2006/relationships/image" Target="../media/image31.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4.jpeg"/><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a:alphaModFix amt="14000"/>
              <a:extLst>
                <a:ext uri="{96DAC541-7B7A-43D3-8B79-37D633B846F1}">
                  <asvg:svgBlip xmlns:asvg="http://schemas.microsoft.com/office/drawing/2016/SVG/main" r:embed="rId2"/>
                </a:ext>
              </a:extLst>
            </a:blip>
            <a:stretch>
              <a:fillRect/>
            </a:stretch>
          </a:blipFill>
        </p:spPr>
      </p:sp>
      <p:sp>
        <p:nvSpPr>
          <p:cNvPr id="3" name="Freeform 3"/>
          <p:cNvSpPr/>
          <p:nvPr/>
        </p:nvSpPr>
        <p:spPr>
          <a:xfrm>
            <a:off x="8712555" y="656100"/>
            <a:ext cx="9272840" cy="9272840"/>
          </a:xfrm>
          <a:custGeom>
            <a:avLst/>
            <a:gdLst/>
            <a:ahLst/>
            <a:cxnLst/>
            <a:rect l="l" t="t" r="r" b="b"/>
            <a:pathLst>
              <a:path w="9272840" h="9272840">
                <a:moveTo>
                  <a:pt x="0" y="0"/>
                </a:moveTo>
                <a:lnTo>
                  <a:pt x="9272840" y="0"/>
                </a:lnTo>
                <a:lnTo>
                  <a:pt x="9272840" y="9272840"/>
                </a:lnTo>
                <a:lnTo>
                  <a:pt x="0" y="9272840"/>
                </a:lnTo>
                <a:lnTo>
                  <a:pt x="0" y="0"/>
                </a:lnTo>
                <a:close/>
              </a:path>
            </a:pathLst>
          </a:custGeom>
          <a:blipFill>
            <a:blip r:embed="rId3"/>
            <a:stretch>
              <a:fillRect/>
            </a:stretch>
          </a:blipFill>
        </p:spPr>
      </p:sp>
      <p:grpSp>
        <p:nvGrpSpPr>
          <p:cNvPr id="4" name="Group 4"/>
          <p:cNvGrpSpPr/>
          <p:nvPr/>
        </p:nvGrpSpPr>
        <p:grpSpPr>
          <a:xfrm>
            <a:off x="10448319" y="1459987"/>
            <a:ext cx="6608816" cy="660881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5DE0E6">
                      <a:alpha val="100000"/>
                    </a:srgbClr>
                  </a:gs>
                  <a:gs pos="100000">
                    <a:srgbClr val="004AAD">
                      <a:alpha val="100000"/>
                    </a:srgbClr>
                  </a:gs>
                </a:gsLst>
                <a:lin ang="0"/>
              </a:gradFill>
              <a:prstDash val="solid"/>
              <a:miter/>
            </a:ln>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grpSp>
        <p:nvGrpSpPr>
          <p:cNvPr id="7" name="Group 7"/>
          <p:cNvGrpSpPr/>
          <p:nvPr/>
        </p:nvGrpSpPr>
        <p:grpSpPr>
          <a:xfrm>
            <a:off x="10790250" y="1028700"/>
            <a:ext cx="6266885" cy="626688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DE0E6">
                    <a:alpha val="100000"/>
                  </a:srgbClr>
                </a:gs>
                <a:gs pos="100000">
                  <a:srgbClr val="004AAD">
                    <a:alpha val="100000"/>
                  </a:srgbClr>
                </a:gs>
              </a:gsLst>
              <a:lin ang="0"/>
            </a:gradFill>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grpSp>
        <p:nvGrpSpPr>
          <p:cNvPr id="10" name="Group 10"/>
          <p:cNvGrpSpPr/>
          <p:nvPr/>
        </p:nvGrpSpPr>
        <p:grpSpPr>
          <a:xfrm>
            <a:off x="10918923" y="1832770"/>
            <a:ext cx="5863250" cy="586325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t="-25000" b="-25000"/>
              </a:stretch>
            </a:blipFill>
          </p:spPr>
        </p:sp>
      </p:grpSp>
      <p:grpSp>
        <p:nvGrpSpPr>
          <p:cNvPr id="12" name="Group 12"/>
          <p:cNvGrpSpPr/>
          <p:nvPr/>
        </p:nvGrpSpPr>
        <p:grpSpPr>
          <a:xfrm>
            <a:off x="10546139" y="6645678"/>
            <a:ext cx="1431950" cy="143195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DE0E6">
                    <a:alpha val="100000"/>
                  </a:srgbClr>
                </a:gs>
                <a:gs pos="100000">
                  <a:srgbClr val="004AAD">
                    <a:alpha val="100000"/>
                  </a:srgbClr>
                </a:gs>
              </a:gsLst>
              <a:lin ang="0"/>
            </a:gra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sp>
        <p:nvSpPr>
          <p:cNvPr id="15" name="Freeform 15"/>
          <p:cNvSpPr/>
          <p:nvPr/>
        </p:nvSpPr>
        <p:spPr>
          <a:xfrm>
            <a:off x="10780915" y="6975358"/>
            <a:ext cx="943350" cy="943350"/>
          </a:xfrm>
          <a:custGeom>
            <a:avLst/>
            <a:gdLst/>
            <a:ahLst/>
            <a:cxnLst/>
            <a:rect l="l" t="t" r="r" b="b"/>
            <a:pathLst>
              <a:path w="943350" h="943350">
                <a:moveTo>
                  <a:pt x="0" y="0"/>
                </a:moveTo>
                <a:lnTo>
                  <a:pt x="943350" y="0"/>
                </a:lnTo>
                <a:lnTo>
                  <a:pt x="943350" y="943349"/>
                </a:lnTo>
                <a:lnTo>
                  <a:pt x="0" y="943349"/>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16" name="Group 16"/>
          <p:cNvGrpSpPr/>
          <p:nvPr/>
        </p:nvGrpSpPr>
        <p:grpSpPr>
          <a:xfrm>
            <a:off x="942975" y="5974469"/>
            <a:ext cx="7421248" cy="375934"/>
            <a:chOff x="0" y="0"/>
            <a:chExt cx="1954567" cy="99011"/>
          </a:xfrm>
        </p:grpSpPr>
        <p:sp>
          <p:nvSpPr>
            <p:cNvPr id="17" name="Freeform 17"/>
            <p:cNvSpPr/>
            <p:nvPr/>
          </p:nvSpPr>
          <p:spPr>
            <a:xfrm>
              <a:off x="0" y="0"/>
              <a:ext cx="1954567" cy="99011"/>
            </a:xfrm>
            <a:custGeom>
              <a:avLst/>
              <a:gdLst/>
              <a:ahLst/>
              <a:cxnLst/>
              <a:rect l="l" t="t" r="r" b="b"/>
              <a:pathLst>
                <a:path w="1954567" h="99011">
                  <a:moveTo>
                    <a:pt x="18778" y="0"/>
                  </a:moveTo>
                  <a:lnTo>
                    <a:pt x="1935790" y="0"/>
                  </a:lnTo>
                  <a:cubicBezTo>
                    <a:pt x="1946160" y="0"/>
                    <a:pt x="1954567" y="8407"/>
                    <a:pt x="1954567" y="18778"/>
                  </a:cubicBezTo>
                  <a:lnTo>
                    <a:pt x="1954567" y="80234"/>
                  </a:lnTo>
                  <a:cubicBezTo>
                    <a:pt x="1954567" y="90604"/>
                    <a:pt x="1946160" y="99011"/>
                    <a:pt x="1935790" y="99011"/>
                  </a:cubicBezTo>
                  <a:lnTo>
                    <a:pt x="18778" y="99011"/>
                  </a:lnTo>
                  <a:cubicBezTo>
                    <a:pt x="8407" y="99011"/>
                    <a:pt x="0" y="90604"/>
                    <a:pt x="0" y="80234"/>
                  </a:cubicBezTo>
                  <a:lnTo>
                    <a:pt x="0" y="18778"/>
                  </a:lnTo>
                  <a:cubicBezTo>
                    <a:pt x="0" y="8407"/>
                    <a:pt x="8407" y="0"/>
                    <a:pt x="18778" y="0"/>
                  </a:cubicBezTo>
                  <a:close/>
                </a:path>
              </a:pathLst>
            </a:custGeom>
            <a:gradFill rotWithShape="1">
              <a:gsLst>
                <a:gs pos="0">
                  <a:srgbClr val="5DE0E6">
                    <a:alpha val="100000"/>
                  </a:srgbClr>
                </a:gs>
                <a:gs pos="100000">
                  <a:srgbClr val="004AAD">
                    <a:alpha val="100000"/>
                  </a:srgbClr>
                </a:gs>
              </a:gsLst>
              <a:lin ang="0"/>
            </a:gradFill>
          </p:spPr>
        </p:sp>
        <p:sp>
          <p:nvSpPr>
            <p:cNvPr id="18" name="TextBox 18"/>
            <p:cNvSpPr txBox="1"/>
            <p:nvPr/>
          </p:nvSpPr>
          <p:spPr>
            <a:xfrm>
              <a:off x="0" y="-38100"/>
              <a:ext cx="1954567" cy="137111"/>
            </a:xfrm>
            <a:prstGeom prst="rect">
              <a:avLst/>
            </a:prstGeom>
          </p:spPr>
          <p:txBody>
            <a:bodyPr lIns="50800" tIns="50800" rIns="50800" bIns="50800" rtlCol="0" anchor="ctr"/>
            <a:lstStyle/>
            <a:p>
              <a:pPr algn="ctr">
                <a:lnSpc>
                  <a:spcPts val="2660"/>
                </a:lnSpc>
              </a:pPr>
              <a:endParaRPr/>
            </a:p>
          </p:txBody>
        </p:sp>
      </p:grpSp>
      <p:sp>
        <p:nvSpPr>
          <p:cNvPr id="19" name="AutoShape 19"/>
          <p:cNvSpPr/>
          <p:nvPr/>
        </p:nvSpPr>
        <p:spPr>
          <a:xfrm>
            <a:off x="1028700" y="8942744"/>
            <a:ext cx="16230600" cy="0"/>
          </a:xfrm>
          <a:prstGeom prst="line">
            <a:avLst/>
          </a:prstGeom>
          <a:ln w="19050" cap="flat">
            <a:solidFill>
              <a:srgbClr val="FFFFFF"/>
            </a:solidFill>
            <a:prstDash val="solid"/>
            <a:headEnd type="none" w="sm" len="sm"/>
            <a:tailEnd type="none" w="sm" len="sm"/>
          </a:ln>
        </p:spPr>
      </p:sp>
      <p:sp>
        <p:nvSpPr>
          <p:cNvPr id="20" name="Freeform 20"/>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1" name="TextBox 21"/>
          <p:cNvSpPr txBox="1"/>
          <p:nvPr/>
        </p:nvSpPr>
        <p:spPr>
          <a:xfrm>
            <a:off x="942975" y="2697339"/>
            <a:ext cx="8777378" cy="2120646"/>
          </a:xfrm>
          <a:prstGeom prst="rect">
            <a:avLst/>
          </a:prstGeom>
        </p:spPr>
        <p:txBody>
          <a:bodyPr lIns="0" tIns="0" rIns="0" bIns="0" rtlCol="0" anchor="t">
            <a:spAutoFit/>
          </a:bodyPr>
          <a:lstStyle/>
          <a:p>
            <a:pPr algn="l">
              <a:lnSpc>
                <a:spcPts val="8440"/>
              </a:lnSpc>
            </a:pPr>
            <a:r>
              <a:rPr lang="en-US" sz="6700" b="1">
                <a:solidFill>
                  <a:srgbClr val="59DAE4"/>
                </a:solidFill>
                <a:latin typeface="Lora Bold" panose="00000800000000000000"/>
                <a:ea typeface="Lora Bold" panose="00000800000000000000"/>
                <a:cs typeface="Lora Bold" panose="00000800000000000000"/>
                <a:sym typeface="Lora Bold" panose="00000800000000000000"/>
              </a:rPr>
              <a:t>AUTOMATIC IMAGE CAPTIONING</a:t>
            </a:r>
          </a:p>
        </p:txBody>
      </p:sp>
      <p:sp>
        <p:nvSpPr>
          <p:cNvPr id="22" name="TextBox 22"/>
          <p:cNvSpPr txBox="1"/>
          <p:nvPr/>
        </p:nvSpPr>
        <p:spPr>
          <a:xfrm>
            <a:off x="1104900" y="7164328"/>
            <a:ext cx="6481366" cy="1470660"/>
          </a:xfrm>
          <a:prstGeom prst="rect">
            <a:avLst/>
          </a:prstGeom>
        </p:spPr>
        <p:txBody>
          <a:bodyPr lIns="0" tIns="0" rIns="0" bIns="0" rtlCol="0" anchor="t">
            <a:spAutoFit/>
          </a:bodyPr>
          <a:lstStyle/>
          <a:p>
            <a:pPr algn="just">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Group Number  : 04 </a:t>
            </a:r>
          </a:p>
          <a:p>
            <a:pPr algn="just">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Pavaki Maithili  : MT/AI/10020/26</a:t>
            </a:r>
          </a:p>
          <a:p>
            <a:pPr algn="just">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Rishika Ranjan : MT/AI/10021/26</a:t>
            </a:r>
          </a:p>
          <a:p>
            <a:pPr algn="just">
              <a:lnSpc>
                <a:spcPts val="2940"/>
              </a:lnSpc>
            </a:pPr>
            <a:endParaRPr lang="en-US" sz="2100">
              <a:solidFill>
                <a:srgbClr val="FFFFFF"/>
              </a:solidFill>
              <a:latin typeface="Lora" panose="00000500000000000000"/>
              <a:ea typeface="Lora" panose="00000500000000000000"/>
              <a:cs typeface="Lora" panose="00000500000000000000"/>
              <a:sym typeface="Lora" panose="00000500000000000000"/>
            </a:endParaRPr>
          </a:p>
        </p:txBody>
      </p:sp>
      <p:sp>
        <p:nvSpPr>
          <p:cNvPr id="23" name="TextBox 23"/>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01</a:t>
            </a:r>
          </a:p>
        </p:txBody>
      </p:sp>
      <p:sp>
        <p:nvSpPr>
          <p:cNvPr id="24" name="Freeform 24"/>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5" name="Freeform 25"/>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3" name="Freeform 3"/>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13348975" y="9361522"/>
            <a:ext cx="3708160" cy="356192"/>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02</a:t>
            </a:r>
          </a:p>
        </p:txBody>
      </p:sp>
      <p:sp>
        <p:nvSpPr>
          <p:cNvPr id="5" name="Freeform 5"/>
          <p:cNvSpPr/>
          <p:nvPr/>
        </p:nvSpPr>
        <p:spPr>
          <a:xfrm>
            <a:off x="15729432" y="216175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TextBox 7"/>
          <p:cNvSpPr txBox="1"/>
          <p:nvPr/>
        </p:nvSpPr>
        <p:spPr>
          <a:xfrm>
            <a:off x="5590886" y="1436560"/>
            <a:ext cx="7106229" cy="917829"/>
          </a:xfrm>
          <a:prstGeom prst="rect">
            <a:avLst/>
          </a:prstGeom>
        </p:spPr>
        <p:txBody>
          <a:bodyPr lIns="0" tIns="0" rIns="0" bIns="0" rtlCol="0" anchor="t">
            <a:spAutoFit/>
          </a:bodyPr>
          <a:lstStyle/>
          <a:p>
            <a:pPr algn="ctr">
              <a:lnSpc>
                <a:spcPts val="7305"/>
              </a:lnSpc>
            </a:pPr>
            <a:r>
              <a:rPr lang="en-US" sz="5800">
                <a:solidFill>
                  <a:srgbClr val="FFFFFF"/>
                </a:solidFill>
                <a:latin typeface="Lora" panose="00000500000000000000"/>
                <a:ea typeface="Lora" panose="00000500000000000000"/>
                <a:cs typeface="Lora" panose="00000500000000000000"/>
                <a:sym typeface="Lora" panose="00000500000000000000"/>
              </a:rPr>
              <a:t>Table of Contents</a:t>
            </a:r>
          </a:p>
        </p:txBody>
      </p:sp>
      <p:sp>
        <p:nvSpPr>
          <p:cNvPr id="8" name="TextBox 8"/>
          <p:cNvSpPr txBox="1"/>
          <p:nvPr/>
        </p:nvSpPr>
        <p:spPr>
          <a:xfrm>
            <a:off x="2762720" y="2976236"/>
            <a:ext cx="7512449" cy="2916449"/>
          </a:xfrm>
          <a:prstGeom prst="rect">
            <a:avLst/>
          </a:prstGeom>
        </p:spPr>
        <p:txBody>
          <a:bodyPr lIns="0" tIns="0" rIns="0" bIns="0" rtlCol="0" anchor="t">
            <a:spAutoFit/>
          </a:bodyPr>
          <a:lstStyle/>
          <a:p>
            <a:pPr marL="647700" lvl="1" indent="-323850" algn="l">
              <a:lnSpc>
                <a:spcPts val="4710"/>
              </a:lnSpc>
              <a:buFont typeface="Arial" panose="020B0604020202020204"/>
              <a:buChar char="•"/>
            </a:pPr>
            <a:r>
              <a:rPr lang="en-US" sz="3000">
                <a:solidFill>
                  <a:srgbClr val="59DAE4"/>
                </a:solidFill>
                <a:latin typeface="Lora" panose="00000500000000000000"/>
                <a:ea typeface="Lora" panose="00000500000000000000"/>
                <a:cs typeface="Lora" panose="00000500000000000000"/>
                <a:sym typeface="Lora" panose="00000500000000000000"/>
              </a:rPr>
              <a:t>Realworld Problem</a:t>
            </a:r>
          </a:p>
          <a:p>
            <a:pPr marL="647700" lvl="1" indent="-323850" algn="l">
              <a:lnSpc>
                <a:spcPts val="4710"/>
              </a:lnSpc>
              <a:buFont typeface="Arial" panose="020B0604020202020204"/>
              <a:buChar char="•"/>
            </a:pPr>
            <a:r>
              <a:rPr lang="en-US" sz="3000">
                <a:solidFill>
                  <a:srgbClr val="59DAE4"/>
                </a:solidFill>
                <a:latin typeface="Lora" panose="00000500000000000000"/>
                <a:ea typeface="Lora" panose="00000500000000000000"/>
                <a:cs typeface="Lora" panose="00000500000000000000"/>
                <a:sym typeface="Lora" panose="00000500000000000000"/>
              </a:rPr>
              <a:t>Research Questions &amp; Hypotheses</a:t>
            </a:r>
          </a:p>
          <a:p>
            <a:pPr marL="647700" lvl="1" indent="-323850" algn="l">
              <a:lnSpc>
                <a:spcPts val="4710"/>
              </a:lnSpc>
              <a:buFont typeface="Arial" panose="020B0604020202020204"/>
              <a:buChar char="•"/>
            </a:pPr>
            <a:r>
              <a:rPr lang="en-US" sz="3000">
                <a:solidFill>
                  <a:srgbClr val="59DAE4"/>
                </a:solidFill>
                <a:latin typeface="Lora" panose="00000500000000000000"/>
                <a:ea typeface="Lora" panose="00000500000000000000"/>
                <a:cs typeface="Lora" panose="00000500000000000000"/>
                <a:sym typeface="Lora" panose="00000500000000000000"/>
              </a:rPr>
              <a:t>Dataset Description</a:t>
            </a:r>
          </a:p>
          <a:p>
            <a:pPr marL="647700" lvl="1" indent="-323850" algn="l">
              <a:lnSpc>
                <a:spcPts val="4710"/>
              </a:lnSpc>
              <a:buFont typeface="Arial" panose="020B0604020202020204"/>
              <a:buChar char="•"/>
            </a:pPr>
            <a:r>
              <a:rPr lang="en-US" sz="3000">
                <a:solidFill>
                  <a:srgbClr val="59DAE4"/>
                </a:solidFill>
                <a:latin typeface="Lora" panose="00000500000000000000"/>
                <a:ea typeface="Lora" panose="00000500000000000000"/>
                <a:cs typeface="Lora" panose="00000500000000000000"/>
                <a:sym typeface="Lora" panose="00000500000000000000"/>
              </a:rPr>
              <a:t>Methodology</a:t>
            </a:r>
          </a:p>
          <a:p>
            <a:pPr marL="647700" lvl="1" indent="-323850" algn="l">
              <a:lnSpc>
                <a:spcPts val="4710"/>
              </a:lnSpc>
              <a:buFont typeface="Arial" panose="020B0604020202020204"/>
              <a:buChar char="•"/>
            </a:pPr>
            <a:r>
              <a:rPr lang="en-US" sz="3000">
                <a:solidFill>
                  <a:srgbClr val="59DAE4"/>
                </a:solidFill>
                <a:latin typeface="Lora" panose="00000500000000000000"/>
                <a:ea typeface="Lora" panose="00000500000000000000"/>
                <a:cs typeface="Lora" panose="00000500000000000000"/>
                <a:sym typeface="Lora" panose="00000500000000000000"/>
              </a:rPr>
              <a:t>Experimental Setup &amp; Results</a:t>
            </a:r>
          </a:p>
        </p:txBody>
      </p:sp>
      <p:sp>
        <p:nvSpPr>
          <p:cNvPr id="9" name="TextBox 9"/>
          <p:cNvSpPr txBox="1"/>
          <p:nvPr/>
        </p:nvSpPr>
        <p:spPr>
          <a:xfrm>
            <a:off x="2762720" y="5891787"/>
            <a:ext cx="10586255" cy="2074545"/>
          </a:xfrm>
          <a:prstGeom prst="rect">
            <a:avLst/>
          </a:prstGeom>
        </p:spPr>
        <p:txBody>
          <a:bodyPr lIns="0" tIns="0" rIns="0" bIns="0" rtlCol="0" anchor="t">
            <a:spAutoFit/>
          </a:bodyPr>
          <a:lstStyle/>
          <a:p>
            <a:pPr marL="647700" lvl="1" indent="-323850" algn="l">
              <a:lnSpc>
                <a:spcPts val="4140"/>
              </a:lnSpc>
              <a:buFont typeface="Arial" panose="020B0604020202020204"/>
              <a:buChar char="•"/>
            </a:pPr>
            <a:r>
              <a:rPr lang="en-US" sz="3000">
                <a:solidFill>
                  <a:srgbClr val="59DAE4"/>
                </a:solidFill>
                <a:latin typeface="Lora" panose="00000500000000000000"/>
                <a:ea typeface="Lora" panose="00000500000000000000"/>
                <a:cs typeface="Lora" panose="00000500000000000000"/>
                <a:sym typeface="Lora" panose="00000500000000000000"/>
              </a:rPr>
              <a:t>Interesting/Failure Cases</a:t>
            </a:r>
          </a:p>
          <a:p>
            <a:pPr marL="647700" lvl="1" indent="-323850" algn="l">
              <a:lnSpc>
                <a:spcPts val="4140"/>
              </a:lnSpc>
              <a:buFont typeface="Arial" panose="020B0604020202020204"/>
              <a:buChar char="•"/>
            </a:pPr>
            <a:r>
              <a:rPr lang="en-US" sz="3000">
                <a:solidFill>
                  <a:srgbClr val="59DAE4"/>
                </a:solidFill>
                <a:latin typeface="Lora" panose="00000500000000000000"/>
                <a:ea typeface="Lora" panose="00000500000000000000"/>
                <a:cs typeface="Lora" panose="00000500000000000000"/>
                <a:sym typeface="Lora" panose="00000500000000000000"/>
              </a:rPr>
              <a:t>Conclusion, Limitations &amp; Future Improvement</a:t>
            </a:r>
          </a:p>
          <a:p>
            <a:pPr algn="l">
              <a:lnSpc>
                <a:spcPts val="4140"/>
              </a:lnSpc>
            </a:pPr>
            <a:endParaRPr lang="en-US" sz="3000">
              <a:solidFill>
                <a:srgbClr val="59DAE4"/>
              </a:solidFill>
              <a:latin typeface="Lora" panose="00000500000000000000"/>
              <a:ea typeface="Lora" panose="00000500000000000000"/>
              <a:cs typeface="Lora" panose="00000500000000000000"/>
              <a:sym typeface="Lora" panose="00000500000000000000"/>
            </a:endParaRPr>
          </a:p>
          <a:p>
            <a:pPr algn="l">
              <a:lnSpc>
                <a:spcPts val="4140"/>
              </a:lnSpc>
            </a:pPr>
            <a:endParaRPr lang="en-US" sz="3000">
              <a:solidFill>
                <a:srgbClr val="59DAE4"/>
              </a:solidFill>
              <a:latin typeface="Lora" panose="00000500000000000000"/>
              <a:ea typeface="Lora" panose="00000500000000000000"/>
              <a:cs typeface="Lora" panose="00000500000000000000"/>
              <a:sym typeface="Lora" panose="00000500000000000000"/>
            </a:endParaRPr>
          </a:p>
        </p:txBody>
      </p:sp>
      <p:sp>
        <p:nvSpPr>
          <p:cNvPr id="10" name="Freeform 10"/>
          <p:cNvSpPr/>
          <p:nvPr/>
        </p:nvSpPr>
        <p:spPr>
          <a:xfrm>
            <a:off x="569069" y="216175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1" name="Freeform 11"/>
          <p:cNvSpPr/>
          <p:nvPr/>
        </p:nvSpPr>
        <p:spPr>
          <a:xfrm>
            <a:off x="14815940" y="8139503"/>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grpSp>
        <p:nvGrpSpPr>
          <p:cNvPr id="4" name="Group 4"/>
          <p:cNvGrpSpPr/>
          <p:nvPr/>
        </p:nvGrpSpPr>
        <p:grpSpPr>
          <a:xfrm>
            <a:off x="9601479" y="2230152"/>
            <a:ext cx="6658874" cy="3294495"/>
            <a:chOff x="0" y="0"/>
            <a:chExt cx="876670" cy="433735"/>
          </a:xfrm>
        </p:grpSpPr>
        <p:sp>
          <p:nvSpPr>
            <p:cNvPr id="5" name="Freeform 5"/>
            <p:cNvSpPr/>
            <p:nvPr/>
          </p:nvSpPr>
          <p:spPr>
            <a:xfrm>
              <a:off x="0" y="0"/>
              <a:ext cx="876670" cy="433735"/>
            </a:xfrm>
            <a:custGeom>
              <a:avLst/>
              <a:gdLst/>
              <a:ahLst/>
              <a:cxnLst/>
              <a:rect l="l" t="t" r="r" b="b"/>
              <a:pathLst>
                <a:path w="876670" h="433735">
                  <a:moveTo>
                    <a:pt x="37205" y="0"/>
                  </a:moveTo>
                  <a:lnTo>
                    <a:pt x="839465" y="0"/>
                  </a:lnTo>
                  <a:cubicBezTo>
                    <a:pt x="860013" y="0"/>
                    <a:pt x="876670" y="16657"/>
                    <a:pt x="876670" y="37205"/>
                  </a:cubicBezTo>
                  <a:lnTo>
                    <a:pt x="876670" y="396530"/>
                  </a:lnTo>
                  <a:cubicBezTo>
                    <a:pt x="876670" y="417077"/>
                    <a:pt x="860013" y="433735"/>
                    <a:pt x="839465" y="433735"/>
                  </a:cubicBezTo>
                  <a:lnTo>
                    <a:pt x="37205" y="433735"/>
                  </a:lnTo>
                  <a:cubicBezTo>
                    <a:pt x="16657" y="433735"/>
                    <a:pt x="0" y="417077"/>
                    <a:pt x="0" y="396530"/>
                  </a:cubicBezTo>
                  <a:lnTo>
                    <a:pt x="0" y="37205"/>
                  </a:lnTo>
                  <a:cubicBezTo>
                    <a:pt x="0" y="16657"/>
                    <a:pt x="16657" y="0"/>
                    <a:pt x="37205" y="0"/>
                  </a:cubicBezTo>
                  <a:close/>
                </a:path>
              </a:pathLst>
            </a:custGeom>
            <a:blipFill>
              <a:blip r:embed="rId3"/>
              <a:stretch>
                <a:fillRect t="-25795" b="-25795"/>
              </a:stretch>
            </a:blipFill>
          </p:spPr>
        </p:sp>
      </p:grpSp>
      <p:sp>
        <p:nvSpPr>
          <p:cNvPr id="8" name="TextBox 8"/>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03</a:t>
            </a:r>
          </a:p>
        </p:txBody>
      </p:sp>
      <p:grpSp>
        <p:nvGrpSpPr>
          <p:cNvPr id="9" name="Group 9"/>
          <p:cNvGrpSpPr/>
          <p:nvPr/>
        </p:nvGrpSpPr>
        <p:grpSpPr>
          <a:xfrm>
            <a:off x="10398262" y="5686572"/>
            <a:ext cx="6658874" cy="3294495"/>
            <a:chOff x="0" y="0"/>
            <a:chExt cx="876670" cy="433735"/>
          </a:xfrm>
        </p:grpSpPr>
        <p:sp>
          <p:nvSpPr>
            <p:cNvPr id="10" name="Freeform 10"/>
            <p:cNvSpPr/>
            <p:nvPr/>
          </p:nvSpPr>
          <p:spPr>
            <a:xfrm>
              <a:off x="0" y="0"/>
              <a:ext cx="876670" cy="433735"/>
            </a:xfrm>
            <a:custGeom>
              <a:avLst/>
              <a:gdLst/>
              <a:ahLst/>
              <a:cxnLst/>
              <a:rect l="l" t="t" r="r" b="b"/>
              <a:pathLst>
                <a:path w="876670" h="433735">
                  <a:moveTo>
                    <a:pt x="37205" y="0"/>
                  </a:moveTo>
                  <a:lnTo>
                    <a:pt x="839465" y="0"/>
                  </a:lnTo>
                  <a:cubicBezTo>
                    <a:pt x="860013" y="0"/>
                    <a:pt x="876670" y="16657"/>
                    <a:pt x="876670" y="37205"/>
                  </a:cubicBezTo>
                  <a:lnTo>
                    <a:pt x="876670" y="396530"/>
                  </a:lnTo>
                  <a:cubicBezTo>
                    <a:pt x="876670" y="417077"/>
                    <a:pt x="860013" y="433735"/>
                    <a:pt x="839465" y="433735"/>
                  </a:cubicBezTo>
                  <a:lnTo>
                    <a:pt x="37205" y="433735"/>
                  </a:lnTo>
                  <a:cubicBezTo>
                    <a:pt x="16657" y="433735"/>
                    <a:pt x="0" y="417077"/>
                    <a:pt x="0" y="396530"/>
                  </a:cubicBezTo>
                  <a:lnTo>
                    <a:pt x="0" y="37205"/>
                  </a:lnTo>
                  <a:cubicBezTo>
                    <a:pt x="0" y="16657"/>
                    <a:pt x="16657" y="0"/>
                    <a:pt x="37205" y="0"/>
                  </a:cubicBezTo>
                  <a:close/>
                </a:path>
              </a:pathLst>
            </a:custGeom>
            <a:blipFill>
              <a:blip r:embed="rId4"/>
              <a:stretch>
                <a:fillRect t="-15184" b="-15184"/>
              </a:stretch>
            </a:blipFill>
          </p:spPr>
        </p:sp>
      </p:grpSp>
      <p:sp>
        <p:nvSpPr>
          <p:cNvPr id="11" name="TextBox 11"/>
          <p:cNvSpPr txBox="1"/>
          <p:nvPr/>
        </p:nvSpPr>
        <p:spPr>
          <a:xfrm>
            <a:off x="3173461" y="710724"/>
            <a:ext cx="12875085" cy="881253"/>
          </a:xfrm>
          <a:prstGeom prst="rect">
            <a:avLst/>
          </a:prstGeom>
        </p:spPr>
        <p:txBody>
          <a:bodyPr lIns="0" tIns="0" rIns="0" bIns="0" rtlCol="0" anchor="t">
            <a:spAutoFit/>
          </a:bodyPr>
          <a:lstStyle/>
          <a:p>
            <a:pPr algn="ctr">
              <a:lnSpc>
                <a:spcPts val="7055"/>
              </a:lnSpc>
            </a:pPr>
            <a:r>
              <a:rPr lang="en-US" sz="5600" b="1">
                <a:solidFill>
                  <a:srgbClr val="59DAE4"/>
                </a:solidFill>
                <a:latin typeface="Lora Bold" panose="00000800000000000000"/>
                <a:ea typeface="Lora Bold" panose="00000800000000000000"/>
                <a:cs typeface="Lora Bold" panose="00000800000000000000"/>
                <a:sym typeface="Lora Bold" panose="00000800000000000000"/>
              </a:rPr>
              <a:t>REALWORLD PROBLEM</a:t>
            </a:r>
          </a:p>
        </p:txBody>
      </p:sp>
      <p:sp>
        <p:nvSpPr>
          <p:cNvPr id="12" name="TextBox 12"/>
          <p:cNvSpPr txBox="1"/>
          <p:nvPr/>
        </p:nvSpPr>
        <p:spPr>
          <a:xfrm>
            <a:off x="952025" y="2089053"/>
            <a:ext cx="8488646" cy="513694"/>
          </a:xfrm>
          <a:prstGeom prst="rect">
            <a:avLst/>
          </a:prstGeom>
        </p:spPr>
        <p:txBody>
          <a:bodyPr lIns="0" tIns="0" rIns="0" bIns="0" rtlCol="0" anchor="t">
            <a:spAutoFit/>
          </a:bodyPr>
          <a:lstStyle/>
          <a:p>
            <a:pPr algn="l">
              <a:lnSpc>
                <a:spcPts val="4340"/>
              </a:lnSpc>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DIFFICULTY FOR VISUALLY IMPAIRED PEOPLE:</a:t>
            </a:r>
          </a:p>
        </p:txBody>
      </p:sp>
      <p:sp>
        <p:nvSpPr>
          <p:cNvPr id="13" name="Freeform 13"/>
          <p:cNvSpPr/>
          <p:nvPr/>
        </p:nvSpPr>
        <p:spPr>
          <a:xfrm>
            <a:off x="831677" y="7833005"/>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4" name="Freeform 14"/>
          <p:cNvSpPr/>
          <p:nvPr/>
        </p:nvSpPr>
        <p:spPr>
          <a:xfrm>
            <a:off x="6407979" y="271704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5" name="TextBox 15"/>
          <p:cNvSpPr txBox="1"/>
          <p:nvPr/>
        </p:nvSpPr>
        <p:spPr>
          <a:xfrm>
            <a:off x="961550" y="2728404"/>
            <a:ext cx="8520698" cy="2910840"/>
          </a:xfrm>
          <a:prstGeom prst="rect">
            <a:avLst/>
          </a:prstGeom>
        </p:spPr>
        <p:txBody>
          <a:bodyPr lIns="0" tIns="0" rIns="0" bIns="0" rtlCol="0" anchor="t">
            <a:spAutoFit/>
          </a:bodyPr>
          <a:lstStyle/>
          <a:p>
            <a:pPr algn="just">
              <a:lnSpc>
                <a:spcPts val="3360"/>
              </a:lnSpc>
              <a:spcBef>
                <a:spcPct val="0"/>
              </a:spcBef>
            </a:pPr>
            <a:r>
              <a:rPr lang="en-US" sz="2400">
                <a:solidFill>
                  <a:srgbClr val="FFFFFF"/>
                </a:solidFill>
                <a:latin typeface="Lora" panose="00000500000000000000"/>
                <a:ea typeface="Lora" panose="00000500000000000000"/>
                <a:cs typeface="Lora" panose="00000500000000000000"/>
                <a:sym typeface="Lora" panose="00000500000000000000"/>
              </a:rPr>
              <a:t>Visually impaired people often find it difficult to identify objects,  recognize people’s activities or understand the surrounding in an image. So,they need to depend on others to describe visual content . To solve this problem automatic image captioning was used which automatically generate meaningful textual description of images and using screen reader they can understand the content independently.</a:t>
            </a:r>
          </a:p>
        </p:txBody>
      </p:sp>
      <p:sp>
        <p:nvSpPr>
          <p:cNvPr id="16" name="TextBox 16"/>
          <p:cNvSpPr txBox="1"/>
          <p:nvPr/>
        </p:nvSpPr>
        <p:spPr>
          <a:xfrm>
            <a:off x="952025" y="5950671"/>
            <a:ext cx="8488646" cy="513694"/>
          </a:xfrm>
          <a:prstGeom prst="rect">
            <a:avLst/>
          </a:prstGeom>
        </p:spPr>
        <p:txBody>
          <a:bodyPr lIns="0" tIns="0" rIns="0" bIns="0" rtlCol="0" anchor="t">
            <a:spAutoFit/>
          </a:bodyPr>
          <a:lstStyle/>
          <a:p>
            <a:pPr algn="l">
              <a:lnSpc>
                <a:spcPts val="4340"/>
              </a:lnSpc>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TIME-CONSUMING MANUAL ANNOTATION:</a:t>
            </a:r>
          </a:p>
        </p:txBody>
      </p:sp>
      <p:sp>
        <p:nvSpPr>
          <p:cNvPr id="17" name="TextBox 17"/>
          <p:cNvSpPr txBox="1"/>
          <p:nvPr/>
        </p:nvSpPr>
        <p:spPr>
          <a:xfrm>
            <a:off x="961550" y="6550090"/>
            <a:ext cx="8520698" cy="2491740"/>
          </a:xfrm>
          <a:prstGeom prst="rect">
            <a:avLst/>
          </a:prstGeom>
        </p:spPr>
        <p:txBody>
          <a:bodyPr lIns="0" tIns="0" rIns="0" bIns="0" rtlCol="0" anchor="t">
            <a:spAutoFit/>
          </a:bodyPr>
          <a:lstStyle/>
          <a:p>
            <a:pPr algn="just">
              <a:lnSpc>
                <a:spcPts val="3360"/>
              </a:lnSpc>
              <a:spcBef>
                <a:spcPct val="0"/>
              </a:spcBef>
            </a:pPr>
            <a:r>
              <a:rPr lang="en-US" sz="2400">
                <a:solidFill>
                  <a:srgbClr val="FFFFFF"/>
                </a:solidFill>
                <a:latin typeface="Lora" panose="00000500000000000000"/>
                <a:ea typeface="Lora" panose="00000500000000000000"/>
                <a:cs typeface="Lora" panose="00000500000000000000"/>
                <a:sym typeface="Lora" panose="00000500000000000000"/>
              </a:rPr>
              <a:t>Manually describing important details of an image and adding suitable labels can take a lot of time and effort,  especially when dealing with thousands of images. So,  automatic image captioning can be used to reduce manual work by generating description quickly which helps in saving time and managing the images more efficiently.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TextBox 4"/>
          <p:cNvSpPr txBox="1"/>
          <p:nvPr/>
        </p:nvSpPr>
        <p:spPr>
          <a:xfrm>
            <a:off x="1028700" y="1362075"/>
            <a:ext cx="11183112" cy="7656830"/>
          </a:xfrm>
          <a:prstGeom prst="rect">
            <a:avLst/>
          </a:prstGeom>
        </p:spPr>
        <p:txBody>
          <a:bodyPr lIns="0" tIns="0" rIns="0" bIns="0" rtlCol="0" anchor="t">
            <a:spAutoFit/>
          </a:bodyPr>
          <a:lstStyle/>
          <a:p>
            <a:pPr algn="l">
              <a:lnSpc>
                <a:spcPts val="4340"/>
              </a:lnSpc>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CHALLANGES IN IMAGES RETRIEVAL</a:t>
            </a:r>
          </a:p>
          <a:p>
            <a:pPr algn="just">
              <a:lnSpc>
                <a:spcPts val="3720"/>
              </a:lnSpc>
            </a:pPr>
            <a:r>
              <a:rPr lang="en-US" sz="2400">
                <a:solidFill>
                  <a:srgbClr val="FFFFFF"/>
                </a:solidFill>
                <a:latin typeface="Lora" panose="00000500000000000000"/>
                <a:ea typeface="Lora" panose="00000500000000000000"/>
                <a:cs typeface="Lora" panose="00000500000000000000"/>
                <a:sym typeface="Lora" panose="00000500000000000000"/>
              </a:rPr>
              <a:t>Finding a particular image among thousand sof pictures can be time consuming, especially when images do not have proper labels or specifications. Image captioning helps by automatically creating meaningful descriptions for images. This makes it easier for people to search for the pictures they need, keep their image collections organized, and find the right image quickly without wasting too much time.</a:t>
            </a:r>
          </a:p>
          <a:p>
            <a:pPr algn="l">
              <a:lnSpc>
                <a:spcPts val="4185"/>
              </a:lnSpc>
            </a:pPr>
            <a:endParaRPr lang="en-US" sz="2400">
              <a:solidFill>
                <a:srgbClr val="FFFFFF"/>
              </a:solidFill>
              <a:latin typeface="Lora" panose="00000500000000000000"/>
              <a:ea typeface="Lora" panose="00000500000000000000"/>
              <a:cs typeface="Lora" panose="00000500000000000000"/>
              <a:sym typeface="Lora" panose="00000500000000000000"/>
            </a:endParaRPr>
          </a:p>
          <a:p>
            <a:pPr algn="l">
              <a:lnSpc>
                <a:spcPts val="4340"/>
              </a:lnSpc>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 LIMITED CONTEXTUAL UNDERSTANDING</a:t>
            </a:r>
          </a:p>
          <a:p>
            <a:pPr algn="just">
              <a:lnSpc>
                <a:spcPts val="3720"/>
              </a:lnSpc>
            </a:pPr>
            <a:r>
              <a:rPr lang="en-US" sz="2400">
                <a:solidFill>
                  <a:srgbClr val="FFFFFF"/>
                </a:solidFill>
                <a:latin typeface="Lora" panose="00000500000000000000"/>
                <a:ea typeface="Lora" panose="00000500000000000000"/>
                <a:cs typeface="Lora" panose="00000500000000000000"/>
                <a:sym typeface="Lora" panose="00000500000000000000"/>
              </a:rPr>
              <a:t>Traditional image recognition systems can identify objects in an image, such as people, vehicles, or animals, but may not understand what is happening in the scene. For example, a system might recognize a person and a bicycle but fail to explain that the person is riding the bicycle on road. Image captioning helps overcome this limitation by describing the objects, their activities, and their relationships in simple sentences. This provides a clearer understanding of the entire image.</a:t>
            </a:r>
          </a:p>
        </p:txBody>
      </p:sp>
      <p:sp>
        <p:nvSpPr>
          <p:cNvPr id="5" name="Freeform 5"/>
          <p:cNvSpPr/>
          <p:nvPr/>
        </p:nvSpPr>
        <p:spPr>
          <a:xfrm>
            <a:off x="3712036" y="8339039"/>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8362584" y="4224239"/>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12845505" y="1958051"/>
            <a:ext cx="5181444" cy="5122926"/>
            <a:chOff x="0" y="0"/>
            <a:chExt cx="822084" cy="812800"/>
          </a:xfrm>
        </p:grpSpPr>
        <p:sp>
          <p:nvSpPr>
            <p:cNvPr id="8" name="Freeform 8"/>
            <p:cNvSpPr/>
            <p:nvPr/>
          </p:nvSpPr>
          <p:spPr>
            <a:xfrm>
              <a:off x="0" y="0"/>
              <a:ext cx="822085" cy="812800"/>
            </a:xfrm>
            <a:custGeom>
              <a:avLst/>
              <a:gdLst/>
              <a:ahLst/>
              <a:cxnLst/>
              <a:rect l="l" t="t" r="r" b="b"/>
              <a:pathLst>
                <a:path w="822085" h="812800">
                  <a:moveTo>
                    <a:pt x="411042" y="0"/>
                  </a:moveTo>
                  <a:cubicBezTo>
                    <a:pt x="184030" y="0"/>
                    <a:pt x="0" y="181951"/>
                    <a:pt x="0" y="406400"/>
                  </a:cubicBezTo>
                  <a:cubicBezTo>
                    <a:pt x="0" y="630849"/>
                    <a:pt x="184030" y="812800"/>
                    <a:pt x="411042" y="812800"/>
                  </a:cubicBezTo>
                  <a:cubicBezTo>
                    <a:pt x="638055" y="812800"/>
                    <a:pt x="822085" y="630849"/>
                    <a:pt x="822085" y="406400"/>
                  </a:cubicBezTo>
                  <a:cubicBezTo>
                    <a:pt x="822085" y="181951"/>
                    <a:pt x="638055" y="0"/>
                    <a:pt x="411042" y="0"/>
                  </a:cubicBezTo>
                  <a:close/>
                </a:path>
              </a:pathLst>
            </a:custGeom>
            <a:blipFill>
              <a:blip r:embed="rId4"/>
              <a:stretch>
                <a:fillRect l="-68027" r="-7672"/>
              </a:stretch>
            </a:blipFill>
          </p:spPr>
        </p:sp>
      </p:grpSp>
      <p:sp>
        <p:nvSpPr>
          <p:cNvPr id="10" name="TextBox 10"/>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831677" y="7833005"/>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8362584" y="4224239"/>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3348975" y="9361522"/>
            <a:ext cx="3708160" cy="356192"/>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05</a:t>
            </a:r>
          </a:p>
        </p:txBody>
      </p:sp>
      <p:sp>
        <p:nvSpPr>
          <p:cNvPr id="7" name="TextBox 7"/>
          <p:cNvSpPr txBox="1"/>
          <p:nvPr/>
        </p:nvSpPr>
        <p:spPr>
          <a:xfrm>
            <a:off x="986790" y="1744345"/>
            <a:ext cx="2632710" cy="502285"/>
          </a:xfrm>
          <a:prstGeom prst="rect">
            <a:avLst/>
          </a:prstGeom>
        </p:spPr>
        <p:txBody>
          <a:bodyPr wrap="square" lIns="0" tIns="0" rIns="0" bIns="0" rtlCol="0" anchor="t">
            <a:spAutoFit/>
          </a:bodyPr>
          <a:lstStyle/>
          <a:p>
            <a:pPr algn="ctr">
              <a:lnSpc>
                <a:spcPts val="3920"/>
              </a:lnSpc>
              <a:spcBef>
                <a:spcPct val="0"/>
              </a:spcBef>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OBJECTIVE:</a:t>
            </a:r>
          </a:p>
        </p:txBody>
      </p:sp>
      <p:sp>
        <p:nvSpPr>
          <p:cNvPr id="8" name="TextBox 8"/>
          <p:cNvSpPr txBox="1"/>
          <p:nvPr/>
        </p:nvSpPr>
        <p:spPr>
          <a:xfrm>
            <a:off x="1291307" y="2559125"/>
            <a:ext cx="9939497" cy="5425440"/>
          </a:xfrm>
          <a:prstGeom prst="rect">
            <a:avLst/>
          </a:prstGeom>
        </p:spPr>
        <p:txBody>
          <a:bodyPr lIns="0" tIns="0" rIns="0" bIns="0" rtlCol="0" anchor="t">
            <a:spAutoFit/>
          </a:bodyPr>
          <a:lstStyle/>
          <a:p>
            <a:pPr algn="just">
              <a:lnSpc>
                <a:spcPts val="3360"/>
              </a:lnSpc>
              <a:spcBef>
                <a:spcPct val="0"/>
              </a:spcBef>
            </a:pPr>
            <a:r>
              <a:rPr lang="en-US" sz="2400">
                <a:solidFill>
                  <a:srgbClr val="FFFFFF"/>
                </a:solidFill>
                <a:latin typeface="Lora" panose="00000500000000000000"/>
                <a:ea typeface="Lora" panose="00000500000000000000"/>
                <a:cs typeface="Lora" panose="00000500000000000000"/>
                <a:sym typeface="Lora" panose="00000500000000000000"/>
              </a:rPr>
              <a:t>The objective of this project is to develop an automatic image captioning system which will convert visual information into meaningful language using CNN for visual feature extraction, RNN for sequential caption generation, and a Transformer based  self-attention mechanism to capture contextual relationships between image features and words. The system will generate meaningful appropriate captions that describe objects, their activities and interactions within an image. The performance of this  system will be evaluated using word-level accuracy, precision, recall and f1-score, along with Bleu, Meteor, and Rouge-L metrics  to assess caption quality.  It aims to improve image accessibility for visually impaired people and also support applications such as automated image description and image retrieval.</a:t>
            </a:r>
          </a:p>
        </p:txBody>
      </p:sp>
      <p:grpSp>
        <p:nvGrpSpPr>
          <p:cNvPr id="9" name="Group 9"/>
          <p:cNvGrpSpPr/>
          <p:nvPr/>
        </p:nvGrpSpPr>
        <p:grpSpPr>
          <a:xfrm>
            <a:off x="11690344" y="3667159"/>
            <a:ext cx="6183593" cy="2952682"/>
            <a:chOff x="0" y="0"/>
            <a:chExt cx="908339" cy="433735"/>
          </a:xfrm>
        </p:grpSpPr>
        <p:sp>
          <p:nvSpPr>
            <p:cNvPr id="10" name="Freeform 10"/>
            <p:cNvSpPr/>
            <p:nvPr/>
          </p:nvSpPr>
          <p:spPr>
            <a:xfrm>
              <a:off x="0" y="0"/>
              <a:ext cx="908339" cy="433735"/>
            </a:xfrm>
            <a:custGeom>
              <a:avLst/>
              <a:gdLst/>
              <a:ahLst/>
              <a:cxnLst/>
              <a:rect l="l" t="t" r="r" b="b"/>
              <a:pathLst>
                <a:path w="908339" h="433735">
                  <a:moveTo>
                    <a:pt x="40064" y="0"/>
                  </a:moveTo>
                  <a:lnTo>
                    <a:pt x="868275" y="0"/>
                  </a:lnTo>
                  <a:cubicBezTo>
                    <a:pt x="890402" y="0"/>
                    <a:pt x="908339" y="17937"/>
                    <a:pt x="908339" y="40064"/>
                  </a:cubicBezTo>
                  <a:lnTo>
                    <a:pt x="908339" y="393670"/>
                  </a:lnTo>
                  <a:cubicBezTo>
                    <a:pt x="908339" y="404296"/>
                    <a:pt x="904118" y="414486"/>
                    <a:pt x="896605" y="422000"/>
                  </a:cubicBezTo>
                  <a:cubicBezTo>
                    <a:pt x="889091" y="429513"/>
                    <a:pt x="878901" y="433735"/>
                    <a:pt x="868275" y="433735"/>
                  </a:cubicBezTo>
                  <a:lnTo>
                    <a:pt x="40064" y="433735"/>
                  </a:lnTo>
                  <a:cubicBezTo>
                    <a:pt x="17937" y="433735"/>
                    <a:pt x="0" y="415797"/>
                    <a:pt x="0" y="393670"/>
                  </a:cubicBezTo>
                  <a:lnTo>
                    <a:pt x="0" y="40064"/>
                  </a:lnTo>
                  <a:cubicBezTo>
                    <a:pt x="0" y="29439"/>
                    <a:pt x="4221" y="19248"/>
                    <a:pt x="11735" y="11735"/>
                  </a:cubicBezTo>
                  <a:cubicBezTo>
                    <a:pt x="19248" y="4221"/>
                    <a:pt x="29439" y="0"/>
                    <a:pt x="40064" y="0"/>
                  </a:cubicBezTo>
                  <a:close/>
                </a:path>
              </a:pathLst>
            </a:custGeom>
            <a:blipFill>
              <a:blip r:embed="rId4"/>
              <a:stretch>
                <a:fillRect t="-19851" b="-19851"/>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1028700" y="9230214"/>
            <a:ext cx="16230600" cy="0"/>
          </a:xfrm>
          <a:prstGeom prst="line">
            <a:avLst/>
          </a:prstGeom>
          <a:ln w="19050" cap="flat">
            <a:solidFill>
              <a:srgbClr val="FFFFFF"/>
            </a:solidFill>
            <a:prstDash val="solid"/>
            <a:headEnd type="none" w="sm" len="sm"/>
            <a:tailEnd type="none" w="sm" len="sm"/>
          </a:ln>
        </p:spPr>
      </p:sp>
      <p:grpSp>
        <p:nvGrpSpPr>
          <p:cNvPr id="3" name="Group 3"/>
          <p:cNvGrpSpPr/>
          <p:nvPr/>
        </p:nvGrpSpPr>
        <p:grpSpPr>
          <a:xfrm>
            <a:off x="13626981" y="2621463"/>
            <a:ext cx="3152149" cy="6268560"/>
            <a:chOff x="0" y="0"/>
            <a:chExt cx="414994" cy="825283"/>
          </a:xfrm>
        </p:grpSpPr>
        <p:sp>
          <p:nvSpPr>
            <p:cNvPr id="4" name="Freeform 4"/>
            <p:cNvSpPr/>
            <p:nvPr/>
          </p:nvSpPr>
          <p:spPr>
            <a:xfrm>
              <a:off x="0" y="0"/>
              <a:ext cx="414994" cy="825283"/>
            </a:xfrm>
            <a:custGeom>
              <a:avLst/>
              <a:gdLst/>
              <a:ahLst/>
              <a:cxnLst/>
              <a:rect l="l" t="t" r="r" b="b"/>
              <a:pathLst>
                <a:path w="414994" h="825283">
                  <a:moveTo>
                    <a:pt x="78594" y="0"/>
                  </a:moveTo>
                  <a:lnTo>
                    <a:pt x="336400" y="0"/>
                  </a:lnTo>
                  <a:cubicBezTo>
                    <a:pt x="379806" y="0"/>
                    <a:pt x="414994" y="35188"/>
                    <a:pt x="414994" y="78594"/>
                  </a:cubicBezTo>
                  <a:lnTo>
                    <a:pt x="414994" y="746689"/>
                  </a:lnTo>
                  <a:cubicBezTo>
                    <a:pt x="414994" y="790095"/>
                    <a:pt x="379806" y="825283"/>
                    <a:pt x="336400" y="825283"/>
                  </a:cubicBezTo>
                  <a:lnTo>
                    <a:pt x="78594" y="825283"/>
                  </a:lnTo>
                  <a:cubicBezTo>
                    <a:pt x="35188" y="825283"/>
                    <a:pt x="0" y="790095"/>
                    <a:pt x="0" y="746689"/>
                  </a:cubicBezTo>
                  <a:lnTo>
                    <a:pt x="0" y="78594"/>
                  </a:lnTo>
                  <a:cubicBezTo>
                    <a:pt x="0" y="35188"/>
                    <a:pt x="35188" y="0"/>
                    <a:pt x="78594" y="0"/>
                  </a:cubicBezTo>
                  <a:close/>
                </a:path>
              </a:pathLst>
            </a:custGeom>
            <a:blipFill>
              <a:blip r:embed="rId2"/>
              <a:stretch>
                <a:fillRect l="-89950" r="-109096"/>
              </a:stretch>
            </a:blipFill>
          </p:spPr>
        </p:sp>
      </p:grpSp>
      <p:sp>
        <p:nvSpPr>
          <p:cNvPr id="5" name="TextBox 5"/>
          <p:cNvSpPr txBox="1"/>
          <p:nvPr/>
        </p:nvSpPr>
        <p:spPr>
          <a:xfrm>
            <a:off x="1088969" y="2913483"/>
            <a:ext cx="12172130" cy="6123305"/>
          </a:xfrm>
          <a:prstGeom prst="rect">
            <a:avLst/>
          </a:prstGeom>
        </p:spPr>
        <p:txBody>
          <a:bodyPr lIns="0" tIns="0" rIns="0" bIns="0" rtlCol="0" anchor="t">
            <a:spAutoFit/>
          </a:bodyPr>
          <a:lstStyle/>
          <a:p>
            <a:pPr algn="l">
              <a:lnSpc>
                <a:spcPts val="4340"/>
              </a:lnSpc>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RESEARCH QUESTIONS  FOR AUTOMATIC IMAGE CAPTIONING :</a:t>
            </a:r>
          </a:p>
          <a:p>
            <a:pPr algn="l">
              <a:lnSpc>
                <a:spcPts val="3720"/>
              </a:lnSpc>
            </a:pPr>
            <a:endParaRPr lang="en-US" sz="2800" b="1">
              <a:solidFill>
                <a:srgbClr val="FFFFFF"/>
              </a:solidFill>
              <a:latin typeface="Lora Bold" panose="00000800000000000000"/>
              <a:ea typeface="Lora Bold" panose="00000800000000000000"/>
              <a:cs typeface="Lora Bold" panose="00000800000000000000"/>
              <a:sym typeface="Lora Bold" panose="00000800000000000000"/>
            </a:endParaRPr>
          </a:p>
          <a:p>
            <a:pPr algn="l">
              <a:lnSpc>
                <a:spcPts val="3720"/>
              </a:lnSpc>
            </a:pPr>
            <a:r>
              <a:rPr lang="en-US" sz="2400">
                <a:solidFill>
                  <a:srgbClr val="FFFFFF"/>
                </a:solidFill>
                <a:latin typeface="Lora" panose="00000500000000000000"/>
                <a:ea typeface="Lora" panose="00000500000000000000"/>
                <a:cs typeface="Lora" panose="00000500000000000000"/>
                <a:sym typeface="Lora" panose="00000500000000000000"/>
              </a:rPr>
              <a:t>1. </a:t>
            </a:r>
            <a:r>
              <a:rPr lang="en-US" sz="2400" b="1">
                <a:solidFill>
                  <a:srgbClr val="FFFFFF"/>
                </a:solidFill>
                <a:latin typeface="Lora Bold" panose="00000800000000000000"/>
                <a:ea typeface="Lora Bold" panose="00000800000000000000"/>
                <a:cs typeface="Lora Bold" panose="00000800000000000000"/>
                <a:sym typeface="Lora Bold" panose="00000800000000000000"/>
              </a:rPr>
              <a:t>Object Recognition:</a:t>
            </a:r>
            <a:r>
              <a:rPr lang="en-US" sz="2400">
                <a:solidFill>
                  <a:srgbClr val="FFFFFF"/>
                </a:solidFill>
                <a:latin typeface="Lora" panose="00000500000000000000"/>
                <a:ea typeface="Lora" panose="00000500000000000000"/>
                <a:cs typeface="Lora" panose="00000500000000000000"/>
                <a:sym typeface="Lora" panose="00000500000000000000"/>
              </a:rPr>
              <a:t> How well can the model recognize objects in an image and understand what they are doing or how they relate to each other?</a:t>
            </a:r>
          </a:p>
          <a:p>
            <a:pPr algn="l">
              <a:lnSpc>
                <a:spcPts val="3720"/>
              </a:lnSpc>
            </a:pPr>
            <a:r>
              <a:rPr lang="en-US" sz="2400">
                <a:solidFill>
                  <a:srgbClr val="FFFFFF"/>
                </a:solidFill>
                <a:latin typeface="Lora" panose="00000500000000000000"/>
                <a:ea typeface="Lora" panose="00000500000000000000"/>
                <a:cs typeface="Lora" panose="00000500000000000000"/>
                <a:sym typeface="Lora" panose="00000500000000000000"/>
              </a:rPr>
              <a:t>2. </a:t>
            </a:r>
            <a:r>
              <a:rPr lang="en-US" sz="2400" b="1">
                <a:solidFill>
                  <a:srgbClr val="FFFFFF"/>
                </a:solidFill>
                <a:latin typeface="Lora Bold" panose="00000800000000000000"/>
                <a:ea typeface="Lora Bold" panose="00000800000000000000"/>
                <a:cs typeface="Lora Bold" panose="00000800000000000000"/>
                <a:sym typeface="Lora Bold" panose="00000800000000000000"/>
              </a:rPr>
              <a:t>Caption Accuracy</a:t>
            </a:r>
            <a:r>
              <a:rPr lang="en-US" sz="2400">
                <a:solidFill>
                  <a:srgbClr val="FFFFFF"/>
                </a:solidFill>
                <a:latin typeface="Lora" panose="00000500000000000000"/>
                <a:ea typeface="Lora" panose="00000500000000000000"/>
                <a:cs typeface="Lora" panose="00000500000000000000"/>
                <a:sym typeface="Lora" panose="00000500000000000000"/>
              </a:rPr>
              <a:t>: How well can a deep learning model summarize an image in a meaningful and logical way?</a:t>
            </a:r>
          </a:p>
          <a:p>
            <a:pPr algn="l">
              <a:lnSpc>
                <a:spcPts val="3720"/>
              </a:lnSpc>
            </a:pPr>
            <a:r>
              <a:rPr lang="en-US" sz="2400">
                <a:solidFill>
                  <a:srgbClr val="FFFFFF"/>
                </a:solidFill>
                <a:latin typeface="Lora" panose="00000500000000000000"/>
                <a:ea typeface="Lora" panose="00000500000000000000"/>
                <a:cs typeface="Lora" panose="00000500000000000000"/>
                <a:sym typeface="Lora" panose="00000500000000000000"/>
              </a:rPr>
              <a:t>3. </a:t>
            </a:r>
            <a:r>
              <a:rPr lang="en-US" sz="2400" b="1">
                <a:solidFill>
                  <a:srgbClr val="FFFFFF"/>
                </a:solidFill>
                <a:latin typeface="Lora Bold" panose="00000800000000000000"/>
                <a:ea typeface="Lora Bold" panose="00000800000000000000"/>
                <a:cs typeface="Lora Bold" panose="00000800000000000000"/>
                <a:sym typeface="Lora Bold" panose="00000800000000000000"/>
              </a:rPr>
              <a:t>Caption Quality</a:t>
            </a:r>
            <a:r>
              <a:rPr lang="en-US" sz="2400">
                <a:solidFill>
                  <a:srgbClr val="FFFFFF"/>
                </a:solidFill>
                <a:latin typeface="Lora" panose="00000500000000000000"/>
                <a:ea typeface="Lora" panose="00000500000000000000"/>
                <a:cs typeface="Lora" panose="00000500000000000000"/>
                <a:sym typeface="Lora" panose="00000500000000000000"/>
              </a:rPr>
              <a:t>: How does the attention mechanism help the model generate more accurate and related captions?</a:t>
            </a:r>
          </a:p>
          <a:p>
            <a:pPr algn="l">
              <a:lnSpc>
                <a:spcPts val="3720"/>
              </a:lnSpc>
            </a:pPr>
            <a:r>
              <a:rPr lang="en-US" sz="2400">
                <a:solidFill>
                  <a:srgbClr val="FFFFFF"/>
                </a:solidFill>
                <a:latin typeface="Lora" panose="00000500000000000000"/>
                <a:ea typeface="Lora" panose="00000500000000000000"/>
                <a:cs typeface="Lora" panose="00000500000000000000"/>
                <a:sym typeface="Lora" panose="00000500000000000000"/>
              </a:rPr>
              <a:t>4. </a:t>
            </a:r>
            <a:r>
              <a:rPr lang="en-US" sz="2400" b="1">
                <a:solidFill>
                  <a:srgbClr val="FFFFFF"/>
                </a:solidFill>
                <a:latin typeface="Lora Bold" panose="00000800000000000000"/>
                <a:ea typeface="Lora Bold" panose="00000800000000000000"/>
                <a:cs typeface="Lora Bold" panose="00000800000000000000"/>
                <a:sym typeface="Lora Bold" panose="00000800000000000000"/>
              </a:rPr>
              <a:t>Time Efficiency</a:t>
            </a:r>
            <a:r>
              <a:rPr lang="en-US" sz="2400">
                <a:solidFill>
                  <a:srgbClr val="FFFFFF"/>
                </a:solidFill>
                <a:latin typeface="Lora" panose="00000500000000000000"/>
                <a:ea typeface="Lora" panose="00000500000000000000"/>
                <a:cs typeface="Lora" panose="00000500000000000000"/>
                <a:sym typeface="Lora" panose="00000500000000000000"/>
              </a:rPr>
              <a:t>: How much time and effort can automatic image captioning save compared to writing image descriptions manually?</a:t>
            </a:r>
          </a:p>
          <a:p>
            <a:pPr algn="l">
              <a:lnSpc>
                <a:spcPts val="3720"/>
              </a:lnSpc>
            </a:pPr>
            <a:r>
              <a:rPr lang="en-US" sz="2400">
                <a:solidFill>
                  <a:srgbClr val="FFFFFF"/>
                </a:solidFill>
                <a:latin typeface="Lora" panose="00000500000000000000"/>
                <a:ea typeface="Lora" panose="00000500000000000000"/>
                <a:cs typeface="Lora" panose="00000500000000000000"/>
                <a:sym typeface="Lora" panose="00000500000000000000"/>
              </a:rPr>
              <a:t>5. </a:t>
            </a:r>
            <a:r>
              <a:rPr lang="en-US" sz="2400" b="1">
                <a:solidFill>
                  <a:srgbClr val="FFFFFF"/>
                </a:solidFill>
                <a:latin typeface="Lora Bold" panose="00000800000000000000"/>
                <a:ea typeface="Lora Bold" panose="00000800000000000000"/>
                <a:cs typeface="Lora Bold" panose="00000800000000000000"/>
                <a:sym typeface="Lora Bold" panose="00000800000000000000"/>
              </a:rPr>
              <a:t>Accessibility</a:t>
            </a:r>
            <a:r>
              <a:rPr lang="en-US" sz="2400">
                <a:solidFill>
                  <a:srgbClr val="FFFFFF"/>
                </a:solidFill>
                <a:latin typeface="Lora" panose="00000500000000000000"/>
                <a:ea typeface="Lora" panose="00000500000000000000"/>
                <a:cs typeface="Lora" panose="00000500000000000000"/>
                <a:sym typeface="Lora" panose="00000500000000000000"/>
              </a:rPr>
              <a:t>: How can spontaneous image captioning help visually impaired people understand the content of images more easily?</a:t>
            </a:r>
          </a:p>
          <a:p>
            <a:pPr algn="l">
              <a:lnSpc>
                <a:spcPts val="3720"/>
              </a:lnSpc>
            </a:pPr>
            <a:endParaRPr lang="en-US" sz="2400">
              <a:solidFill>
                <a:srgbClr val="FFFFFF"/>
              </a:solidFill>
              <a:latin typeface="Lora" panose="00000500000000000000"/>
              <a:ea typeface="Lora" panose="00000500000000000000"/>
              <a:cs typeface="Lora" panose="00000500000000000000"/>
              <a:sym typeface="Lora" panose="00000500000000000000"/>
            </a:endParaRPr>
          </a:p>
        </p:txBody>
      </p:sp>
      <p:sp>
        <p:nvSpPr>
          <p:cNvPr id="6" name="Freeform 6"/>
          <p:cNvSpPr/>
          <p:nvPr/>
        </p:nvSpPr>
        <p:spPr>
          <a:xfrm>
            <a:off x="372046" y="2161832"/>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8403802" y="7964422"/>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06</a:t>
            </a:r>
          </a:p>
        </p:txBody>
      </p:sp>
      <p:sp>
        <p:nvSpPr>
          <p:cNvPr id="9" name="TextBox 9"/>
          <p:cNvSpPr txBox="1"/>
          <p:nvPr/>
        </p:nvSpPr>
        <p:spPr>
          <a:xfrm>
            <a:off x="1088969" y="851954"/>
            <a:ext cx="15690161" cy="881253"/>
          </a:xfrm>
          <a:prstGeom prst="rect">
            <a:avLst/>
          </a:prstGeom>
        </p:spPr>
        <p:txBody>
          <a:bodyPr lIns="0" tIns="0" rIns="0" bIns="0" rtlCol="0" anchor="t">
            <a:spAutoFit/>
          </a:bodyPr>
          <a:lstStyle/>
          <a:p>
            <a:pPr algn="ctr">
              <a:lnSpc>
                <a:spcPts val="7055"/>
              </a:lnSpc>
            </a:pPr>
            <a:r>
              <a:rPr lang="en-US" sz="5600" b="1">
                <a:solidFill>
                  <a:srgbClr val="59DAE4"/>
                </a:solidFill>
                <a:latin typeface="Lora Bold" panose="00000800000000000000"/>
                <a:ea typeface="Lora Bold" panose="00000800000000000000"/>
                <a:cs typeface="Lora Bold" panose="00000800000000000000"/>
                <a:sym typeface="Lora Bold" panose="00000800000000000000"/>
              </a:rPr>
              <a:t>RESEARCH QUESTION AND HYPOTHESIS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1028700" y="9230214"/>
            <a:ext cx="16230600" cy="0"/>
          </a:xfrm>
          <a:prstGeom prst="line">
            <a:avLst/>
          </a:prstGeom>
          <a:ln w="19050" cap="flat">
            <a:solidFill>
              <a:srgbClr val="FFFFFF"/>
            </a:solidFill>
            <a:prstDash val="solid"/>
            <a:headEnd type="none" w="sm" len="sm"/>
            <a:tailEnd type="none" w="sm" len="sm"/>
          </a:ln>
        </p:spPr>
      </p:sp>
      <p:grpSp>
        <p:nvGrpSpPr>
          <p:cNvPr id="3" name="Group 3"/>
          <p:cNvGrpSpPr/>
          <p:nvPr/>
        </p:nvGrpSpPr>
        <p:grpSpPr>
          <a:xfrm>
            <a:off x="13425175" y="2386522"/>
            <a:ext cx="4386589" cy="6268560"/>
            <a:chOff x="0" y="0"/>
            <a:chExt cx="577513" cy="825283"/>
          </a:xfrm>
        </p:grpSpPr>
        <p:sp>
          <p:nvSpPr>
            <p:cNvPr id="4" name="Freeform 4"/>
            <p:cNvSpPr/>
            <p:nvPr/>
          </p:nvSpPr>
          <p:spPr>
            <a:xfrm>
              <a:off x="0" y="0"/>
              <a:ext cx="577513" cy="825283"/>
            </a:xfrm>
            <a:custGeom>
              <a:avLst/>
              <a:gdLst/>
              <a:ahLst/>
              <a:cxnLst/>
              <a:rect l="l" t="t" r="r" b="b"/>
              <a:pathLst>
                <a:path w="577513" h="825283">
                  <a:moveTo>
                    <a:pt x="56477" y="0"/>
                  </a:moveTo>
                  <a:lnTo>
                    <a:pt x="521036" y="0"/>
                  </a:lnTo>
                  <a:cubicBezTo>
                    <a:pt x="552228" y="0"/>
                    <a:pt x="577513" y="25286"/>
                    <a:pt x="577513" y="56477"/>
                  </a:cubicBezTo>
                  <a:lnTo>
                    <a:pt x="577513" y="768806"/>
                  </a:lnTo>
                  <a:cubicBezTo>
                    <a:pt x="577513" y="799998"/>
                    <a:pt x="552228" y="825283"/>
                    <a:pt x="521036" y="825283"/>
                  </a:cubicBezTo>
                  <a:lnTo>
                    <a:pt x="56477" y="825283"/>
                  </a:lnTo>
                  <a:cubicBezTo>
                    <a:pt x="41498" y="825283"/>
                    <a:pt x="27133" y="819333"/>
                    <a:pt x="16542" y="808742"/>
                  </a:cubicBezTo>
                  <a:cubicBezTo>
                    <a:pt x="5950" y="798150"/>
                    <a:pt x="0" y="783785"/>
                    <a:pt x="0" y="768806"/>
                  </a:cubicBezTo>
                  <a:lnTo>
                    <a:pt x="0" y="56477"/>
                  </a:lnTo>
                  <a:cubicBezTo>
                    <a:pt x="0" y="41498"/>
                    <a:pt x="5950" y="27133"/>
                    <a:pt x="16542" y="16542"/>
                  </a:cubicBezTo>
                  <a:cubicBezTo>
                    <a:pt x="27133" y="5950"/>
                    <a:pt x="41498" y="0"/>
                    <a:pt x="56477" y="0"/>
                  </a:cubicBezTo>
                  <a:close/>
                </a:path>
              </a:pathLst>
            </a:custGeom>
            <a:blipFill>
              <a:blip r:embed="rId2"/>
              <a:stretch>
                <a:fillRect l="-3588" r="-3588"/>
              </a:stretch>
            </a:blipFill>
          </p:spPr>
        </p:sp>
      </p:grpSp>
      <p:sp>
        <p:nvSpPr>
          <p:cNvPr id="5" name="TextBox 5"/>
          <p:cNvSpPr txBox="1"/>
          <p:nvPr/>
        </p:nvSpPr>
        <p:spPr>
          <a:xfrm>
            <a:off x="1091120" y="1885607"/>
            <a:ext cx="12172130" cy="513715"/>
          </a:xfrm>
          <a:prstGeom prst="rect">
            <a:avLst/>
          </a:prstGeom>
        </p:spPr>
        <p:txBody>
          <a:bodyPr lIns="0" tIns="0" rIns="0" bIns="0" rtlCol="0" anchor="t">
            <a:spAutoFit/>
          </a:bodyPr>
          <a:lstStyle/>
          <a:p>
            <a:pPr algn="just">
              <a:lnSpc>
                <a:spcPts val="4340"/>
              </a:lnSpc>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HYPOTHESES FOR AUTOMATIC IMAGE CAPTIONING :</a:t>
            </a:r>
          </a:p>
        </p:txBody>
      </p:sp>
      <p:sp>
        <p:nvSpPr>
          <p:cNvPr id="6" name="Freeform 6"/>
          <p:cNvSpPr/>
          <p:nvPr/>
        </p:nvSpPr>
        <p:spPr>
          <a:xfrm>
            <a:off x="372046" y="2161832"/>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8403802" y="7754872"/>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13348975" y="9361522"/>
            <a:ext cx="3708160" cy="356192"/>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07</a:t>
            </a:r>
          </a:p>
        </p:txBody>
      </p:sp>
      <p:sp>
        <p:nvSpPr>
          <p:cNvPr id="9" name="TextBox 9"/>
          <p:cNvSpPr txBox="1"/>
          <p:nvPr/>
        </p:nvSpPr>
        <p:spPr>
          <a:xfrm>
            <a:off x="831677" y="2973977"/>
            <a:ext cx="12172130" cy="4168140"/>
          </a:xfrm>
          <a:prstGeom prst="rect">
            <a:avLst/>
          </a:prstGeom>
        </p:spPr>
        <p:txBody>
          <a:bodyPr lIns="0" tIns="0" rIns="0" bIns="0" rtlCol="0" anchor="t">
            <a:spAutoFit/>
          </a:bodyPr>
          <a:lstStyle/>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Research Hypothesis</a:t>
            </a:r>
            <a:r>
              <a:rPr lang="en-US" sz="2400">
                <a:solidFill>
                  <a:srgbClr val="FFFFFF"/>
                </a:solidFill>
                <a:latin typeface="Lora" panose="00000500000000000000"/>
                <a:ea typeface="Lora" panose="00000500000000000000"/>
                <a:cs typeface="Lora" panose="00000500000000000000"/>
                <a:sym typeface="Lora" panose="00000500000000000000"/>
              </a:rPr>
              <a:t>:  It is a CNN-based feature extraction model combined with a RNN decoder and using Bahdanau attention mechanism which can generate meaningful and relevant image captions by focusing on important visual features.</a:t>
            </a: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Null Hypothesis</a:t>
            </a:r>
            <a:r>
              <a:rPr lang="en-US" sz="2400">
                <a:solidFill>
                  <a:srgbClr val="FFFFFF"/>
                </a:solidFill>
                <a:latin typeface="Lora" panose="00000500000000000000"/>
                <a:ea typeface="Lora" panose="00000500000000000000"/>
                <a:cs typeface="Lora" panose="00000500000000000000"/>
                <a:sym typeface="Lora" panose="00000500000000000000"/>
              </a:rPr>
              <a:t>: The proposed CNN-RNN model with Bahdanau attention does not generate relevant captions for some input images.</a:t>
            </a: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Accessibility Hypothesis</a:t>
            </a:r>
            <a:r>
              <a:rPr lang="en-US" sz="2400">
                <a:solidFill>
                  <a:srgbClr val="FFFFFF"/>
                </a:solidFill>
                <a:latin typeface="Lora" panose="00000500000000000000"/>
                <a:ea typeface="Lora" panose="00000500000000000000"/>
                <a:cs typeface="Lora" panose="00000500000000000000"/>
                <a:sym typeface="Lora" panose="00000500000000000000"/>
              </a:rPr>
              <a:t>: Automatically generated captions helps visually impaired people in understanding image content more easily through meaningful textual descriptions.</a:t>
            </a:r>
          </a:p>
          <a:p>
            <a:pPr marL="518160" lvl="1" indent="-259080" algn="just">
              <a:lnSpc>
                <a:spcPts val="3360"/>
              </a:lnSpc>
              <a:spcBef>
                <a:spcPct val="0"/>
              </a:spcBef>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Efficient Hypothesis</a:t>
            </a:r>
            <a:r>
              <a:rPr lang="en-US" sz="2400">
                <a:solidFill>
                  <a:srgbClr val="FFFFFF"/>
                </a:solidFill>
                <a:latin typeface="Lora" panose="00000500000000000000"/>
                <a:ea typeface="Lora" panose="00000500000000000000"/>
                <a:cs typeface="Lora" panose="00000500000000000000"/>
                <a:sym typeface="Lora" panose="00000500000000000000"/>
              </a:rPr>
              <a:t>: Automatic image captioning can reduce the time and effort required to organize large collection of images.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a:alphaModFix amt="14000"/>
              <a:extLst>
                <a:ext uri="{96DAC541-7B7A-43D3-8B79-37D633B846F1}">
                  <asvg:svgBlip xmlns:asvg="http://schemas.microsoft.com/office/drawing/2016/SVG/main" r:embed="rId2"/>
                </a:ext>
              </a:extLst>
            </a:blip>
            <a:stretch>
              <a:fillRect/>
            </a:stretch>
          </a:blipFill>
        </p:spPr>
      </p:sp>
      <p:sp>
        <p:nvSpPr>
          <p:cNvPr id="3" name="Freeform 3"/>
          <p:cNvSpPr/>
          <p:nvPr/>
        </p:nvSpPr>
        <p:spPr>
          <a:xfrm>
            <a:off x="8712555" y="656100"/>
            <a:ext cx="9272840" cy="9272840"/>
          </a:xfrm>
          <a:custGeom>
            <a:avLst/>
            <a:gdLst/>
            <a:ahLst/>
            <a:cxnLst/>
            <a:rect l="l" t="t" r="r" b="b"/>
            <a:pathLst>
              <a:path w="9272840" h="9272840">
                <a:moveTo>
                  <a:pt x="0" y="0"/>
                </a:moveTo>
                <a:lnTo>
                  <a:pt x="9272840" y="0"/>
                </a:lnTo>
                <a:lnTo>
                  <a:pt x="9272840" y="9272840"/>
                </a:lnTo>
                <a:lnTo>
                  <a:pt x="0" y="9272840"/>
                </a:lnTo>
                <a:lnTo>
                  <a:pt x="0" y="0"/>
                </a:lnTo>
                <a:close/>
              </a:path>
            </a:pathLst>
          </a:custGeom>
          <a:blipFill>
            <a:blip r:embed="rId3"/>
            <a:stretch>
              <a:fillRect/>
            </a:stretch>
          </a:blipFill>
        </p:spPr>
      </p:sp>
      <p:grpSp>
        <p:nvGrpSpPr>
          <p:cNvPr id="4" name="Group 4"/>
          <p:cNvGrpSpPr/>
          <p:nvPr/>
        </p:nvGrpSpPr>
        <p:grpSpPr>
          <a:xfrm>
            <a:off x="10173356" y="1988112"/>
            <a:ext cx="6608816" cy="660881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gradFill>
                <a:gsLst>
                  <a:gs pos="0">
                    <a:srgbClr val="5DE0E6">
                      <a:alpha val="100000"/>
                    </a:srgbClr>
                  </a:gs>
                  <a:gs pos="100000">
                    <a:srgbClr val="004AAD">
                      <a:alpha val="100000"/>
                    </a:srgbClr>
                  </a:gs>
                </a:gsLst>
                <a:lin ang="0"/>
              </a:gradFill>
              <a:prstDash val="solid"/>
              <a:miter/>
            </a:ln>
          </p:spPr>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grpSp>
        <p:nvGrpSpPr>
          <p:cNvPr id="7" name="Group 7"/>
          <p:cNvGrpSpPr/>
          <p:nvPr/>
        </p:nvGrpSpPr>
        <p:grpSpPr>
          <a:xfrm>
            <a:off x="10344322" y="2159078"/>
            <a:ext cx="6266885" cy="626688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DE0E6">
                    <a:alpha val="100000"/>
                  </a:srgbClr>
                </a:gs>
                <a:gs pos="100000">
                  <a:srgbClr val="004AAD">
                    <a:alpha val="100000"/>
                  </a:srgbClr>
                </a:gs>
              </a:gsLst>
              <a:lin ang="0"/>
            </a:gradFill>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grpSp>
        <p:nvGrpSpPr>
          <p:cNvPr id="10" name="Group 10"/>
          <p:cNvGrpSpPr/>
          <p:nvPr/>
        </p:nvGrpSpPr>
        <p:grpSpPr>
          <a:xfrm>
            <a:off x="10546139" y="2360895"/>
            <a:ext cx="5863250" cy="586325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49125" r="-49125"/>
              </a:stretch>
            </a:blipFill>
          </p:spPr>
        </p:sp>
      </p:grpSp>
      <p:grpSp>
        <p:nvGrpSpPr>
          <p:cNvPr id="12" name="Group 12"/>
          <p:cNvGrpSpPr/>
          <p:nvPr/>
        </p:nvGrpSpPr>
        <p:grpSpPr>
          <a:xfrm>
            <a:off x="10546139" y="7164978"/>
            <a:ext cx="1431950" cy="143195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5DE0E6">
                    <a:alpha val="100000"/>
                  </a:srgbClr>
                </a:gs>
                <a:gs pos="100000">
                  <a:srgbClr val="004AAD">
                    <a:alpha val="100000"/>
                  </a:srgbClr>
                </a:gs>
              </a:gsLst>
              <a:lin ang="0"/>
            </a:gra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60"/>
                </a:lnSpc>
              </a:pPr>
              <a:endParaRPr/>
            </a:p>
          </p:txBody>
        </p:sp>
      </p:grpSp>
      <p:sp>
        <p:nvSpPr>
          <p:cNvPr id="15" name="Freeform 15"/>
          <p:cNvSpPr/>
          <p:nvPr/>
        </p:nvSpPr>
        <p:spPr>
          <a:xfrm>
            <a:off x="10790440" y="7409278"/>
            <a:ext cx="943350" cy="943350"/>
          </a:xfrm>
          <a:custGeom>
            <a:avLst/>
            <a:gdLst/>
            <a:ahLst/>
            <a:cxnLst/>
            <a:rect l="l" t="t" r="r" b="b"/>
            <a:pathLst>
              <a:path w="943350" h="943350">
                <a:moveTo>
                  <a:pt x="0" y="0"/>
                </a:moveTo>
                <a:lnTo>
                  <a:pt x="943350" y="0"/>
                </a:lnTo>
                <a:lnTo>
                  <a:pt x="943350" y="943350"/>
                </a:lnTo>
                <a:lnTo>
                  <a:pt x="0" y="94335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6" name="AutoShape 16"/>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17" name="Freeform 17"/>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8" name="Freeform 18"/>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9" name="Freeform 19"/>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1" name="TextBox 21"/>
          <p:cNvSpPr txBox="1"/>
          <p:nvPr/>
        </p:nvSpPr>
        <p:spPr>
          <a:xfrm>
            <a:off x="5527524" y="983034"/>
            <a:ext cx="8420817" cy="881253"/>
          </a:xfrm>
          <a:prstGeom prst="rect">
            <a:avLst/>
          </a:prstGeom>
        </p:spPr>
        <p:txBody>
          <a:bodyPr lIns="0" tIns="0" rIns="0" bIns="0" rtlCol="0" anchor="t">
            <a:spAutoFit/>
          </a:bodyPr>
          <a:lstStyle/>
          <a:p>
            <a:pPr algn="just">
              <a:lnSpc>
                <a:spcPts val="7055"/>
              </a:lnSpc>
            </a:pPr>
            <a:r>
              <a:rPr lang="en-US" sz="5600">
                <a:solidFill>
                  <a:srgbClr val="59DAE4"/>
                </a:solidFill>
                <a:latin typeface="Lora" panose="00000500000000000000"/>
                <a:ea typeface="Lora" panose="00000500000000000000"/>
                <a:cs typeface="Lora" panose="00000500000000000000"/>
                <a:sym typeface="Lora" panose="00000500000000000000"/>
              </a:rPr>
              <a:t>DATASET DESCRIPTION</a:t>
            </a:r>
          </a:p>
        </p:txBody>
      </p:sp>
      <p:sp>
        <p:nvSpPr>
          <p:cNvPr id="22" name="TextBox 22"/>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08</a:t>
            </a:r>
          </a:p>
        </p:txBody>
      </p:sp>
      <p:sp>
        <p:nvSpPr>
          <p:cNvPr id="23" name="TextBox 23"/>
          <p:cNvSpPr txBox="1"/>
          <p:nvPr/>
        </p:nvSpPr>
        <p:spPr>
          <a:xfrm>
            <a:off x="831677" y="3160018"/>
            <a:ext cx="8906256" cy="5006339"/>
          </a:xfrm>
          <a:prstGeom prst="rect">
            <a:avLst/>
          </a:prstGeom>
        </p:spPr>
        <p:txBody>
          <a:bodyPr lIns="0" tIns="0" rIns="0" bIns="0" rtlCol="0" anchor="t">
            <a:spAutoFit/>
          </a:bodyPr>
          <a:lstStyle/>
          <a:p>
            <a:pPr algn="just">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In our automatic image captioning project, we used the Flickr8K dataset, downloaded from Kaggle. It contains around 8,000 images, and each image has five captions written by humans to describe what is happening in the picture.</a:t>
            </a:r>
          </a:p>
          <a:p>
            <a:pPr algn="just">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The dataset includes different types of images, such as  animals, people, nature, and daily activities. These images and their captions help our model learn how to understand the content of a picture and describe it in simple, meaningful words. This allows the model to generate captions automatically, making images easier to understand and more accessible to everyone.</a:t>
            </a:r>
          </a:p>
          <a:p>
            <a:pPr algn="just">
              <a:lnSpc>
                <a:spcPts val="3360"/>
              </a:lnSpc>
            </a:pPr>
            <a:endParaRPr lang="en-US" sz="2400">
              <a:solidFill>
                <a:srgbClr val="FFFFFF"/>
              </a:solidFill>
              <a:latin typeface="Lora" panose="00000500000000000000"/>
              <a:ea typeface="Lora" panose="00000500000000000000"/>
              <a:cs typeface="Lora" panose="00000500000000000000"/>
              <a:sym typeface="Lora" panose="0000050000000000000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1028700" y="9382614"/>
            <a:ext cx="16230600" cy="0"/>
          </a:xfrm>
          <a:prstGeom prst="line">
            <a:avLst/>
          </a:prstGeom>
          <a:ln w="19050" cap="flat">
            <a:solidFill>
              <a:srgbClr val="FFFFFF"/>
            </a:solidFill>
            <a:prstDash val="solid"/>
            <a:headEnd type="none" w="sm" len="sm"/>
            <a:tailEnd type="none" w="sm" len="sm"/>
          </a:ln>
        </p:spPr>
      </p:sp>
      <p:sp>
        <p:nvSpPr>
          <p:cNvPr id="3" name="Freeform 3"/>
          <p:cNvSpPr/>
          <p:nvPr/>
        </p:nvSpPr>
        <p:spPr>
          <a:xfrm>
            <a:off x="-189713" y="4797079"/>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9103538" y="1951977"/>
            <a:ext cx="907630" cy="907630"/>
          </a:xfrm>
          <a:custGeom>
            <a:avLst/>
            <a:gdLst/>
            <a:ahLst/>
            <a:cxnLst/>
            <a:rect l="l" t="t" r="r" b="b"/>
            <a:pathLst>
              <a:path w="907630" h="907630">
                <a:moveTo>
                  <a:pt x="0" y="0"/>
                </a:moveTo>
                <a:lnTo>
                  <a:pt x="907630" y="0"/>
                </a:lnTo>
                <a:lnTo>
                  <a:pt x="907630" y="907630"/>
                </a:lnTo>
                <a:lnTo>
                  <a:pt x="0" y="90763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3914631" y="1937528"/>
            <a:ext cx="4559610" cy="6497878"/>
          </a:xfrm>
          <a:custGeom>
            <a:avLst/>
            <a:gdLst/>
            <a:ahLst/>
            <a:cxnLst/>
            <a:rect l="l" t="t" r="r" b="b"/>
            <a:pathLst>
              <a:path w="4559610" h="6497878">
                <a:moveTo>
                  <a:pt x="0" y="0"/>
                </a:moveTo>
                <a:lnTo>
                  <a:pt x="4559610" y="0"/>
                </a:lnTo>
                <a:lnTo>
                  <a:pt x="4559610" y="6497879"/>
                </a:lnTo>
                <a:lnTo>
                  <a:pt x="0" y="6497879"/>
                </a:lnTo>
                <a:lnTo>
                  <a:pt x="0" y="0"/>
                </a:lnTo>
                <a:close/>
              </a:path>
            </a:pathLst>
          </a:custGeom>
          <a:blipFill>
            <a:blip r:embed="rId3"/>
            <a:stretch>
              <a:fillRect r="-6106"/>
            </a:stretch>
          </a:blipFill>
        </p:spPr>
      </p:sp>
      <p:sp>
        <p:nvSpPr>
          <p:cNvPr id="7" name="AutoShape 7"/>
          <p:cNvSpPr/>
          <p:nvPr/>
        </p:nvSpPr>
        <p:spPr>
          <a:xfrm>
            <a:off x="7782825" y="4763309"/>
            <a:ext cx="4808792" cy="18809"/>
          </a:xfrm>
          <a:prstGeom prst="line">
            <a:avLst/>
          </a:prstGeom>
          <a:ln w="28575" cap="flat">
            <a:solidFill>
              <a:srgbClr val="FFFFFF"/>
            </a:solidFill>
            <a:prstDash val="solid"/>
            <a:headEnd type="none" w="sm" len="sm"/>
            <a:tailEnd type="none" w="sm" len="sm"/>
          </a:ln>
        </p:spPr>
      </p:sp>
      <p:grpSp>
        <p:nvGrpSpPr>
          <p:cNvPr id="8" name="Group 8"/>
          <p:cNvGrpSpPr/>
          <p:nvPr/>
        </p:nvGrpSpPr>
        <p:grpSpPr>
          <a:xfrm>
            <a:off x="10011168" y="2859607"/>
            <a:ext cx="3311132" cy="3311132"/>
            <a:chOff x="0" y="0"/>
            <a:chExt cx="812800" cy="812800"/>
          </a:xfrm>
        </p:grpSpPr>
        <p:sp>
          <p:nvSpPr>
            <p:cNvPr id="9" name="Freeform 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4"/>
              <a:stretch>
                <a:fillRect t="-23700" b="-23700"/>
              </a:stretch>
            </a:blipFill>
          </p:spPr>
        </p:sp>
      </p:grpSp>
      <p:grpSp>
        <p:nvGrpSpPr>
          <p:cNvPr id="10" name="Group 10"/>
          <p:cNvGrpSpPr/>
          <p:nvPr/>
        </p:nvGrpSpPr>
        <p:grpSpPr>
          <a:xfrm>
            <a:off x="9557353" y="6925570"/>
            <a:ext cx="4279133" cy="1050333"/>
            <a:chOff x="0" y="0"/>
            <a:chExt cx="1707444" cy="419100"/>
          </a:xfrm>
        </p:grpSpPr>
        <p:sp>
          <p:nvSpPr>
            <p:cNvPr id="11" name="Freeform 11"/>
            <p:cNvSpPr/>
            <p:nvPr/>
          </p:nvSpPr>
          <p:spPr>
            <a:xfrm>
              <a:off x="0" y="0"/>
              <a:ext cx="1707444" cy="419100"/>
            </a:xfrm>
            <a:custGeom>
              <a:avLst/>
              <a:gdLst/>
              <a:ahLst/>
              <a:cxnLst/>
              <a:rect l="l" t="t" r="r" b="b"/>
              <a:pathLst>
                <a:path w="1707444" h="419100">
                  <a:moveTo>
                    <a:pt x="35336" y="0"/>
                  </a:moveTo>
                  <a:lnTo>
                    <a:pt x="1672108" y="0"/>
                  </a:lnTo>
                  <a:cubicBezTo>
                    <a:pt x="1681480" y="0"/>
                    <a:pt x="1690468" y="3723"/>
                    <a:pt x="1697095" y="10350"/>
                  </a:cubicBezTo>
                  <a:cubicBezTo>
                    <a:pt x="1703722" y="16977"/>
                    <a:pt x="1707444" y="25965"/>
                    <a:pt x="1707444" y="35336"/>
                  </a:cubicBezTo>
                  <a:lnTo>
                    <a:pt x="1707444" y="383764"/>
                  </a:lnTo>
                  <a:cubicBezTo>
                    <a:pt x="1707444" y="403279"/>
                    <a:pt x="1691624" y="419100"/>
                    <a:pt x="1672108" y="419100"/>
                  </a:cubicBezTo>
                  <a:lnTo>
                    <a:pt x="35336" y="419100"/>
                  </a:lnTo>
                  <a:cubicBezTo>
                    <a:pt x="25965" y="419100"/>
                    <a:pt x="16977" y="415377"/>
                    <a:pt x="10350" y="408750"/>
                  </a:cubicBezTo>
                  <a:cubicBezTo>
                    <a:pt x="3723" y="402123"/>
                    <a:pt x="0" y="393135"/>
                    <a:pt x="0" y="383764"/>
                  </a:cubicBezTo>
                  <a:lnTo>
                    <a:pt x="0" y="35336"/>
                  </a:lnTo>
                  <a:cubicBezTo>
                    <a:pt x="0" y="25965"/>
                    <a:pt x="3723" y="16977"/>
                    <a:pt x="10350" y="10350"/>
                  </a:cubicBezTo>
                  <a:cubicBezTo>
                    <a:pt x="16977" y="3723"/>
                    <a:pt x="25965" y="0"/>
                    <a:pt x="35336" y="0"/>
                  </a:cubicBezTo>
                  <a:close/>
                </a:path>
              </a:pathLst>
            </a:custGeom>
            <a:solidFill>
              <a:srgbClr val="FFFCFC"/>
            </a:solidFill>
          </p:spPr>
        </p:sp>
        <p:sp>
          <p:nvSpPr>
            <p:cNvPr id="12" name="TextBox 12"/>
            <p:cNvSpPr txBox="1"/>
            <p:nvPr/>
          </p:nvSpPr>
          <p:spPr>
            <a:xfrm>
              <a:off x="0" y="-38100"/>
              <a:ext cx="1707444" cy="457200"/>
            </a:xfrm>
            <a:prstGeom prst="rect">
              <a:avLst/>
            </a:prstGeom>
          </p:spPr>
          <p:txBody>
            <a:bodyPr lIns="50800" tIns="50800" rIns="50800" bIns="50800" rtlCol="0" anchor="ctr"/>
            <a:lstStyle/>
            <a:p>
              <a:pPr algn="ctr">
                <a:lnSpc>
                  <a:spcPts val="2940"/>
                </a:lnSpc>
              </a:pPr>
              <a:endParaRPr/>
            </a:p>
          </p:txBody>
        </p:sp>
      </p:grpSp>
      <p:sp>
        <p:nvSpPr>
          <p:cNvPr id="13" name="TextBox 13"/>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09</a:t>
            </a:r>
          </a:p>
        </p:txBody>
      </p:sp>
      <p:sp>
        <p:nvSpPr>
          <p:cNvPr id="14" name="AutoShape 14"/>
          <p:cNvSpPr/>
          <p:nvPr/>
        </p:nvSpPr>
        <p:spPr>
          <a:xfrm>
            <a:off x="7783025" y="7469545"/>
            <a:ext cx="1774528" cy="18809"/>
          </a:xfrm>
          <a:prstGeom prst="line">
            <a:avLst/>
          </a:prstGeom>
          <a:ln w="28575" cap="flat">
            <a:solidFill>
              <a:srgbClr val="FFFFFF"/>
            </a:solidFill>
            <a:prstDash val="solid"/>
            <a:headEnd type="none" w="sm" len="sm"/>
            <a:tailEnd type="none" w="sm" len="sm"/>
          </a:ln>
        </p:spPr>
      </p:sp>
      <p:sp>
        <p:nvSpPr>
          <p:cNvPr id="15" name="TextBox 15"/>
          <p:cNvSpPr txBox="1"/>
          <p:nvPr/>
        </p:nvSpPr>
        <p:spPr>
          <a:xfrm>
            <a:off x="9919081" y="7070939"/>
            <a:ext cx="3630913" cy="1031841"/>
          </a:xfrm>
          <a:prstGeom prst="rect">
            <a:avLst/>
          </a:prstGeom>
        </p:spPr>
        <p:txBody>
          <a:bodyPr lIns="0" tIns="0" rIns="0" bIns="0" rtlCol="0" anchor="t">
            <a:spAutoFit/>
          </a:bodyPr>
          <a:lstStyle/>
          <a:p>
            <a:pPr algn="ctr">
              <a:lnSpc>
                <a:spcPts val="2765"/>
              </a:lnSpc>
            </a:pPr>
            <a:r>
              <a:rPr lang="en-US" sz="1975">
                <a:solidFill>
                  <a:srgbClr val="000000"/>
                </a:solidFill>
                <a:latin typeface="Canva Sans" panose="020B0503030501040103"/>
                <a:ea typeface="Canva Sans" panose="020B0503030501040103"/>
                <a:cs typeface="Canva Sans" panose="020B0503030501040103"/>
                <a:sym typeface="Canva Sans" panose="020B0503030501040103"/>
              </a:rPr>
              <a:t>“A man in a white shirt and jeans playing an accordion”</a:t>
            </a:r>
          </a:p>
          <a:p>
            <a:pPr algn="ctr">
              <a:lnSpc>
                <a:spcPts val="2765"/>
              </a:lnSpc>
            </a:pPr>
            <a:endParaRPr lang="en-US" sz="1975">
              <a:solidFill>
                <a:srgbClr val="000000"/>
              </a:solidFill>
              <a:latin typeface="Canva Sans" panose="020B0503030501040103"/>
              <a:ea typeface="Canva Sans" panose="020B0503030501040103"/>
              <a:cs typeface="Canva Sans" panose="020B0503030501040103"/>
              <a:sym typeface="Canva Sans" panose="020B0503030501040103"/>
            </a:endParaRPr>
          </a:p>
        </p:txBody>
      </p:sp>
      <p:sp>
        <p:nvSpPr>
          <p:cNvPr id="16" name="TextBox 16"/>
          <p:cNvSpPr txBox="1"/>
          <p:nvPr/>
        </p:nvSpPr>
        <p:spPr>
          <a:xfrm>
            <a:off x="3775075" y="8649335"/>
            <a:ext cx="10829925" cy="410845"/>
          </a:xfrm>
          <a:prstGeom prst="rect">
            <a:avLst/>
          </a:prstGeom>
        </p:spPr>
        <p:txBody>
          <a:bodyPr lIns="0" tIns="0" rIns="0" bIns="0" rtlCol="0" anchor="t">
            <a:noAutofit/>
          </a:bodyPr>
          <a:lstStyle/>
          <a:p>
            <a:pPr algn="ctr">
              <a:lnSpc>
                <a:spcPts val="3360"/>
              </a:lnSpc>
            </a:pPr>
            <a:r>
              <a:rPr lang="en-US" sz="2400" dirty="0">
                <a:solidFill>
                  <a:srgbClr val="FFFFFF"/>
                </a:solidFill>
                <a:latin typeface="Lora" panose="00000500000000000000"/>
                <a:ea typeface="Lora" panose="00000500000000000000"/>
                <a:cs typeface="Lora" panose="00000500000000000000"/>
                <a:sym typeface="Lora" panose="00000500000000000000"/>
              </a:rPr>
              <a:t>Fig 1 : Flowchart of Automatic Image Captioning</a:t>
            </a:r>
          </a:p>
        </p:txBody>
      </p:sp>
      <p:sp>
        <p:nvSpPr>
          <p:cNvPr id="17" name="TextBox 17"/>
          <p:cNvSpPr txBox="1"/>
          <p:nvPr/>
        </p:nvSpPr>
        <p:spPr>
          <a:xfrm>
            <a:off x="6266180" y="225425"/>
            <a:ext cx="6516370" cy="1005205"/>
          </a:xfrm>
          <a:prstGeom prst="rect">
            <a:avLst/>
          </a:prstGeom>
        </p:spPr>
        <p:txBody>
          <a:bodyPr wrap="square" lIns="0" tIns="0" rIns="0" bIns="0" rtlCol="0" anchor="t">
            <a:spAutoFit/>
          </a:bodyPr>
          <a:lstStyle/>
          <a:p>
            <a:pPr algn="ctr">
              <a:lnSpc>
                <a:spcPts val="7840"/>
              </a:lnSpc>
              <a:spcBef>
                <a:spcPct val="0"/>
              </a:spcBef>
            </a:pPr>
            <a:r>
              <a:rPr lang="en-US" sz="5600" b="1">
                <a:solidFill>
                  <a:srgbClr val="59DAE4"/>
                </a:solidFill>
                <a:latin typeface="Lora Bold" panose="00000800000000000000"/>
                <a:ea typeface="Lora Bold" panose="00000800000000000000"/>
                <a:cs typeface="Lora Bold" panose="00000800000000000000"/>
                <a:sym typeface="Lora Bold" panose="00000800000000000000"/>
              </a:rPr>
              <a:t>METHODOLOGY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7665631" y="-523428"/>
            <a:ext cx="11600207" cy="11009651"/>
          </a:xfrm>
          <a:custGeom>
            <a:avLst/>
            <a:gdLst/>
            <a:ahLst/>
            <a:cxnLst/>
            <a:rect l="l" t="t" r="r" b="b"/>
            <a:pathLst>
              <a:path w="11600207" h="11009651">
                <a:moveTo>
                  <a:pt x="0" y="0"/>
                </a:moveTo>
                <a:lnTo>
                  <a:pt x="11600208" y="0"/>
                </a:lnTo>
                <a:lnTo>
                  <a:pt x="11600208" y="11009651"/>
                </a:lnTo>
                <a:lnTo>
                  <a:pt x="0" y="11009651"/>
                </a:lnTo>
                <a:lnTo>
                  <a:pt x="0" y="0"/>
                </a:lnTo>
                <a:close/>
              </a:path>
            </a:pathLst>
          </a:custGeom>
          <a:blipFill>
            <a:blip>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372046" y="8093386"/>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971463" y="1816703"/>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1291307" y="2137858"/>
            <a:ext cx="459631" cy="459631"/>
            <a:chOff x="0" y="0"/>
            <a:chExt cx="812800" cy="812800"/>
          </a:xfrm>
        </p:grpSpPr>
        <p:sp>
          <p:nvSpPr>
            <p:cNvPr id="8" name="Freeform 8"/>
            <p:cNvSpPr/>
            <p:nvPr/>
          </p:nvSpPr>
          <p:spPr>
            <a:xfrm>
              <a:off x="69769" y="69769"/>
              <a:ext cx="673262" cy="673262"/>
            </a:xfrm>
            <a:custGeom>
              <a:avLst/>
              <a:gdLst/>
              <a:ahLst/>
              <a:cxnLst/>
              <a:rect l="l" t="t" r="r" b="b"/>
              <a:pathLst>
                <a:path w="673262" h="673262">
                  <a:moveTo>
                    <a:pt x="455735" y="49335"/>
                  </a:moveTo>
                  <a:lnTo>
                    <a:pt x="623927" y="217527"/>
                  </a:lnTo>
                  <a:cubicBezTo>
                    <a:pt x="655516" y="249116"/>
                    <a:pt x="673262" y="291959"/>
                    <a:pt x="673262" y="336631"/>
                  </a:cubicBezTo>
                  <a:cubicBezTo>
                    <a:pt x="673262" y="381304"/>
                    <a:pt x="655516" y="424146"/>
                    <a:pt x="623927" y="455735"/>
                  </a:cubicBezTo>
                  <a:lnTo>
                    <a:pt x="455735" y="623927"/>
                  </a:lnTo>
                  <a:cubicBezTo>
                    <a:pt x="424146" y="655516"/>
                    <a:pt x="381304" y="673262"/>
                    <a:pt x="336631" y="673262"/>
                  </a:cubicBezTo>
                  <a:cubicBezTo>
                    <a:pt x="291959" y="673262"/>
                    <a:pt x="249116" y="655516"/>
                    <a:pt x="217527" y="623927"/>
                  </a:cubicBezTo>
                  <a:lnTo>
                    <a:pt x="49335" y="455735"/>
                  </a:lnTo>
                  <a:cubicBezTo>
                    <a:pt x="17746" y="424146"/>
                    <a:pt x="0" y="381304"/>
                    <a:pt x="0" y="336631"/>
                  </a:cubicBezTo>
                  <a:cubicBezTo>
                    <a:pt x="0" y="291959"/>
                    <a:pt x="17746" y="249116"/>
                    <a:pt x="49335" y="217527"/>
                  </a:cubicBezTo>
                  <a:lnTo>
                    <a:pt x="217527" y="49335"/>
                  </a:lnTo>
                  <a:cubicBezTo>
                    <a:pt x="249116" y="17746"/>
                    <a:pt x="291959" y="0"/>
                    <a:pt x="336631" y="0"/>
                  </a:cubicBezTo>
                  <a:cubicBezTo>
                    <a:pt x="381304" y="0"/>
                    <a:pt x="424146" y="17746"/>
                    <a:pt x="455735" y="49335"/>
                  </a:cubicBezTo>
                  <a:close/>
                </a:path>
              </a:pathLst>
            </a:custGeom>
            <a:ln w="38100" cap="sq">
              <a:gradFill>
                <a:gsLst>
                  <a:gs pos="0">
                    <a:srgbClr val="5DE0E6">
                      <a:alpha val="100000"/>
                    </a:srgbClr>
                  </a:gs>
                  <a:gs pos="100000">
                    <a:srgbClr val="004AAD">
                      <a:alpha val="100000"/>
                    </a:srgbClr>
                  </a:gs>
                </a:gsLst>
                <a:lin ang="0"/>
              </a:gradFill>
              <a:prstDash val="solid"/>
              <a:miter/>
            </a:ln>
          </p:spPr>
        </p:sp>
        <p:sp>
          <p:nvSpPr>
            <p:cNvPr id="9" name="TextBox 9"/>
            <p:cNvSpPr txBox="1"/>
            <p:nvPr/>
          </p:nvSpPr>
          <p:spPr>
            <a:xfrm>
              <a:off x="139700" y="101600"/>
              <a:ext cx="533400" cy="571500"/>
            </a:xfrm>
            <a:prstGeom prst="rect">
              <a:avLst/>
            </a:prstGeom>
          </p:spPr>
          <p:txBody>
            <a:bodyPr lIns="50800" tIns="50800" rIns="50800" bIns="50800" rtlCol="0" anchor="ctr"/>
            <a:lstStyle/>
            <a:p>
              <a:pPr algn="ctr">
                <a:lnSpc>
                  <a:spcPts val="2940"/>
                </a:lnSpc>
              </a:pPr>
              <a:endParaRPr/>
            </a:p>
          </p:txBody>
        </p:sp>
      </p:grpSp>
      <p:sp>
        <p:nvSpPr>
          <p:cNvPr id="10" name="TextBox 10"/>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10</a:t>
            </a:r>
          </a:p>
        </p:txBody>
      </p:sp>
      <p:sp>
        <p:nvSpPr>
          <p:cNvPr id="11" name="TextBox 11"/>
          <p:cNvSpPr txBox="1"/>
          <p:nvPr/>
        </p:nvSpPr>
        <p:spPr>
          <a:xfrm>
            <a:off x="1953334" y="2099758"/>
            <a:ext cx="16032914" cy="6263002"/>
          </a:xfrm>
          <a:prstGeom prst="rect">
            <a:avLst/>
          </a:prstGeom>
        </p:spPr>
        <p:txBody>
          <a:bodyPr lIns="0" tIns="0" rIns="0" bIns="0" rtlCol="0" anchor="t">
            <a:spAutoFit/>
          </a:bodyPr>
          <a:lstStyle/>
          <a:p>
            <a:pPr algn="l">
              <a:lnSpc>
                <a:spcPts val="3360"/>
              </a:lnSpc>
            </a:pPr>
            <a:r>
              <a:rPr lang="en-US" sz="2400" b="1">
                <a:solidFill>
                  <a:srgbClr val="FFFCFC"/>
                </a:solidFill>
                <a:latin typeface="Lora Bold" panose="00000800000000000000"/>
                <a:ea typeface="Lora Bold" panose="00000800000000000000"/>
                <a:cs typeface="Lora Bold" panose="00000800000000000000"/>
                <a:sym typeface="Lora Bold" panose="00000800000000000000"/>
              </a:rPr>
              <a:t>Dataset collection : </a:t>
            </a:r>
            <a:r>
              <a:rPr lang="en-US" sz="2400">
                <a:solidFill>
                  <a:srgbClr val="FFFCFC"/>
                </a:solidFill>
                <a:latin typeface="Lora" panose="00000500000000000000"/>
                <a:ea typeface="Lora" panose="00000500000000000000"/>
                <a:cs typeface="Lora" panose="00000500000000000000"/>
                <a:sym typeface="Lora" panose="00000500000000000000"/>
              </a:rPr>
              <a:t>Flickr8k dataset is used in this project., which contains images paired with human-written descriptions and it includes 5 captions per image.</a:t>
            </a:r>
          </a:p>
          <a:p>
            <a:pPr algn="l">
              <a:lnSpc>
                <a:spcPts val="3360"/>
              </a:lnSpc>
            </a:pPr>
            <a:endParaRPr lang="en-US" sz="2400">
              <a:solidFill>
                <a:srgbClr val="FFFCFC"/>
              </a:solidFill>
              <a:latin typeface="Lora" panose="00000500000000000000"/>
              <a:ea typeface="Lora" panose="00000500000000000000"/>
              <a:cs typeface="Lora" panose="00000500000000000000"/>
              <a:sym typeface="Lora" panose="00000500000000000000"/>
            </a:endParaRPr>
          </a:p>
          <a:p>
            <a:pPr algn="l">
              <a:lnSpc>
                <a:spcPts val="3360"/>
              </a:lnSpc>
            </a:pPr>
            <a:r>
              <a:rPr lang="en-US" sz="2400" b="1">
                <a:solidFill>
                  <a:srgbClr val="FFFCFC"/>
                </a:solidFill>
                <a:latin typeface="Lora Bold" panose="00000800000000000000"/>
                <a:ea typeface="Lora Bold" panose="00000800000000000000"/>
                <a:cs typeface="Lora Bold" panose="00000800000000000000"/>
                <a:sym typeface="Lora Bold" panose="00000800000000000000"/>
              </a:rPr>
              <a:t>Data Preprocessing :</a:t>
            </a:r>
            <a:r>
              <a:rPr lang="en-US" sz="2400">
                <a:solidFill>
                  <a:srgbClr val="FFFCFC"/>
                </a:solidFill>
                <a:latin typeface="Lora" panose="00000500000000000000"/>
                <a:ea typeface="Lora" panose="00000500000000000000"/>
                <a:cs typeface="Lora" panose="00000500000000000000"/>
                <a:sym typeface="Lora" panose="00000500000000000000"/>
              </a:rPr>
              <a:t> Prepare the images and captions for training by resizing  and normalizing images for Inception V3 image classifier and remove unnecessary words or symbols from captions and convert words into numerical representations.</a:t>
            </a:r>
          </a:p>
          <a:p>
            <a:pPr algn="l">
              <a:lnSpc>
                <a:spcPts val="3360"/>
              </a:lnSpc>
            </a:pPr>
            <a:endParaRPr lang="en-US" sz="2400">
              <a:solidFill>
                <a:srgbClr val="FFFCFC"/>
              </a:solidFill>
              <a:latin typeface="Lora" panose="00000500000000000000"/>
              <a:ea typeface="Lora" panose="00000500000000000000"/>
              <a:cs typeface="Lora" panose="00000500000000000000"/>
              <a:sym typeface="Lora" panose="00000500000000000000"/>
            </a:endParaRPr>
          </a:p>
          <a:p>
            <a:pPr algn="l">
              <a:lnSpc>
                <a:spcPts val="3360"/>
              </a:lnSpc>
            </a:pPr>
            <a:r>
              <a:rPr lang="en-US" sz="2400" b="1">
                <a:solidFill>
                  <a:srgbClr val="FFFCFC"/>
                </a:solidFill>
                <a:latin typeface="Lora Bold" panose="00000800000000000000"/>
                <a:ea typeface="Lora Bold" panose="00000800000000000000"/>
                <a:cs typeface="Lora Bold" panose="00000800000000000000"/>
                <a:sym typeface="Lora Bold" panose="00000800000000000000"/>
              </a:rPr>
              <a:t>Feature Extraction :</a:t>
            </a:r>
            <a:r>
              <a:rPr lang="en-US" sz="2400">
                <a:solidFill>
                  <a:srgbClr val="FFFCFC"/>
                </a:solidFill>
                <a:latin typeface="Lora" panose="00000500000000000000"/>
                <a:ea typeface="Lora" panose="00000500000000000000"/>
                <a:cs typeface="Lora" panose="00000500000000000000"/>
                <a:sym typeface="Lora" panose="00000500000000000000"/>
              </a:rPr>
              <a:t> An encoder converts an image into numerical features that the next part of the model can understand. For that , we have used Inception V3, a pretrained CNN which is used for image classification and feature extraction. </a:t>
            </a:r>
          </a:p>
          <a:p>
            <a:pPr algn="l">
              <a:lnSpc>
                <a:spcPts val="3360"/>
              </a:lnSpc>
            </a:pPr>
            <a:endParaRPr lang="en-US" sz="2400">
              <a:solidFill>
                <a:srgbClr val="FFFCFC"/>
              </a:solidFill>
              <a:latin typeface="Lora" panose="00000500000000000000"/>
              <a:ea typeface="Lora" panose="00000500000000000000"/>
              <a:cs typeface="Lora" panose="00000500000000000000"/>
              <a:sym typeface="Lora" panose="00000500000000000000"/>
            </a:endParaRPr>
          </a:p>
          <a:p>
            <a:pPr algn="l">
              <a:lnSpc>
                <a:spcPts val="3360"/>
              </a:lnSpc>
            </a:pPr>
            <a:r>
              <a:rPr lang="en-US" sz="2400" b="1">
                <a:solidFill>
                  <a:srgbClr val="FFFCFC"/>
                </a:solidFill>
                <a:latin typeface="Lora Bold" panose="00000800000000000000"/>
                <a:ea typeface="Lora Bold" panose="00000800000000000000"/>
                <a:cs typeface="Lora Bold" panose="00000800000000000000"/>
                <a:sym typeface="Lora Bold" panose="00000800000000000000"/>
              </a:rPr>
              <a:t>Caption generation using RNN and Bahdanau Attention : </a:t>
            </a:r>
            <a:r>
              <a:rPr lang="en-US" sz="2400">
                <a:solidFill>
                  <a:srgbClr val="FFFCFC"/>
                </a:solidFill>
                <a:latin typeface="Lora" panose="00000500000000000000"/>
                <a:ea typeface="Lora" panose="00000500000000000000"/>
                <a:cs typeface="Lora" panose="00000500000000000000"/>
                <a:sym typeface="Lora" panose="00000500000000000000"/>
              </a:rPr>
              <a:t>A RNN decoder is used to generate captions one word at a  time. The Bahdanau Attention mechanism helps in focusing on the most relevant image features while predicting each word.</a:t>
            </a:r>
          </a:p>
          <a:p>
            <a:pPr algn="l">
              <a:lnSpc>
                <a:spcPts val="3360"/>
              </a:lnSpc>
              <a:spcBef>
                <a:spcPct val="0"/>
              </a:spcBef>
            </a:pPr>
            <a:endParaRPr lang="en-US" sz="2400">
              <a:solidFill>
                <a:srgbClr val="FFFCFC"/>
              </a:solidFill>
              <a:latin typeface="Lora" panose="00000500000000000000"/>
              <a:ea typeface="Lora" panose="00000500000000000000"/>
              <a:cs typeface="Lora" panose="00000500000000000000"/>
              <a:sym typeface="Lora" panose="00000500000000000000"/>
            </a:endParaRPr>
          </a:p>
        </p:txBody>
      </p:sp>
      <p:grpSp>
        <p:nvGrpSpPr>
          <p:cNvPr id="12" name="Group 12"/>
          <p:cNvGrpSpPr/>
          <p:nvPr/>
        </p:nvGrpSpPr>
        <p:grpSpPr>
          <a:xfrm>
            <a:off x="1291307" y="3455144"/>
            <a:ext cx="459631" cy="459631"/>
            <a:chOff x="0" y="0"/>
            <a:chExt cx="812800" cy="812800"/>
          </a:xfrm>
        </p:grpSpPr>
        <p:sp>
          <p:nvSpPr>
            <p:cNvPr id="13" name="Freeform 13"/>
            <p:cNvSpPr/>
            <p:nvPr/>
          </p:nvSpPr>
          <p:spPr>
            <a:xfrm>
              <a:off x="69769" y="69769"/>
              <a:ext cx="673262" cy="673262"/>
            </a:xfrm>
            <a:custGeom>
              <a:avLst/>
              <a:gdLst/>
              <a:ahLst/>
              <a:cxnLst/>
              <a:rect l="l" t="t" r="r" b="b"/>
              <a:pathLst>
                <a:path w="673262" h="673262">
                  <a:moveTo>
                    <a:pt x="455735" y="49335"/>
                  </a:moveTo>
                  <a:lnTo>
                    <a:pt x="623927" y="217527"/>
                  </a:lnTo>
                  <a:cubicBezTo>
                    <a:pt x="655516" y="249116"/>
                    <a:pt x="673262" y="291959"/>
                    <a:pt x="673262" y="336631"/>
                  </a:cubicBezTo>
                  <a:cubicBezTo>
                    <a:pt x="673262" y="381304"/>
                    <a:pt x="655516" y="424146"/>
                    <a:pt x="623927" y="455735"/>
                  </a:cubicBezTo>
                  <a:lnTo>
                    <a:pt x="455735" y="623927"/>
                  </a:lnTo>
                  <a:cubicBezTo>
                    <a:pt x="424146" y="655516"/>
                    <a:pt x="381304" y="673262"/>
                    <a:pt x="336631" y="673262"/>
                  </a:cubicBezTo>
                  <a:cubicBezTo>
                    <a:pt x="291959" y="673262"/>
                    <a:pt x="249116" y="655516"/>
                    <a:pt x="217527" y="623927"/>
                  </a:cubicBezTo>
                  <a:lnTo>
                    <a:pt x="49335" y="455735"/>
                  </a:lnTo>
                  <a:cubicBezTo>
                    <a:pt x="17746" y="424146"/>
                    <a:pt x="0" y="381304"/>
                    <a:pt x="0" y="336631"/>
                  </a:cubicBezTo>
                  <a:cubicBezTo>
                    <a:pt x="0" y="291959"/>
                    <a:pt x="17746" y="249116"/>
                    <a:pt x="49335" y="217527"/>
                  </a:cubicBezTo>
                  <a:lnTo>
                    <a:pt x="217527" y="49335"/>
                  </a:lnTo>
                  <a:cubicBezTo>
                    <a:pt x="249116" y="17746"/>
                    <a:pt x="291959" y="0"/>
                    <a:pt x="336631" y="0"/>
                  </a:cubicBezTo>
                  <a:cubicBezTo>
                    <a:pt x="381304" y="0"/>
                    <a:pt x="424146" y="17746"/>
                    <a:pt x="455735" y="49335"/>
                  </a:cubicBezTo>
                  <a:close/>
                </a:path>
              </a:pathLst>
            </a:custGeom>
            <a:ln w="38100" cap="sq">
              <a:gradFill>
                <a:gsLst>
                  <a:gs pos="0">
                    <a:srgbClr val="5DE0E6">
                      <a:alpha val="100000"/>
                    </a:srgbClr>
                  </a:gs>
                  <a:gs pos="100000">
                    <a:srgbClr val="004AAD">
                      <a:alpha val="100000"/>
                    </a:srgbClr>
                  </a:gs>
                </a:gsLst>
                <a:lin ang="0"/>
              </a:gradFill>
              <a:prstDash val="solid"/>
              <a:miter/>
            </a:ln>
          </p:spPr>
        </p:sp>
        <p:sp>
          <p:nvSpPr>
            <p:cNvPr id="14" name="TextBox 14"/>
            <p:cNvSpPr txBox="1"/>
            <p:nvPr/>
          </p:nvSpPr>
          <p:spPr>
            <a:xfrm>
              <a:off x="139700" y="101600"/>
              <a:ext cx="533400" cy="571500"/>
            </a:xfrm>
            <a:prstGeom prst="rect">
              <a:avLst/>
            </a:prstGeom>
          </p:spPr>
          <p:txBody>
            <a:bodyPr lIns="50800" tIns="50800" rIns="50800" bIns="50800" rtlCol="0" anchor="ctr"/>
            <a:lstStyle/>
            <a:p>
              <a:pPr algn="ctr">
                <a:lnSpc>
                  <a:spcPts val="2940"/>
                </a:lnSpc>
              </a:pPr>
              <a:endParaRPr/>
            </a:p>
          </p:txBody>
        </p:sp>
      </p:grpSp>
      <p:grpSp>
        <p:nvGrpSpPr>
          <p:cNvPr id="15" name="Group 15"/>
          <p:cNvGrpSpPr/>
          <p:nvPr/>
        </p:nvGrpSpPr>
        <p:grpSpPr>
          <a:xfrm>
            <a:off x="1291307" y="5143500"/>
            <a:ext cx="459631" cy="459631"/>
            <a:chOff x="0" y="0"/>
            <a:chExt cx="812800" cy="812800"/>
          </a:xfrm>
        </p:grpSpPr>
        <p:sp>
          <p:nvSpPr>
            <p:cNvPr id="16" name="Freeform 16"/>
            <p:cNvSpPr/>
            <p:nvPr/>
          </p:nvSpPr>
          <p:spPr>
            <a:xfrm>
              <a:off x="69769" y="69769"/>
              <a:ext cx="673262" cy="673262"/>
            </a:xfrm>
            <a:custGeom>
              <a:avLst/>
              <a:gdLst/>
              <a:ahLst/>
              <a:cxnLst/>
              <a:rect l="l" t="t" r="r" b="b"/>
              <a:pathLst>
                <a:path w="673262" h="673262">
                  <a:moveTo>
                    <a:pt x="455735" y="49335"/>
                  </a:moveTo>
                  <a:lnTo>
                    <a:pt x="623927" y="217527"/>
                  </a:lnTo>
                  <a:cubicBezTo>
                    <a:pt x="655516" y="249116"/>
                    <a:pt x="673262" y="291959"/>
                    <a:pt x="673262" y="336631"/>
                  </a:cubicBezTo>
                  <a:cubicBezTo>
                    <a:pt x="673262" y="381304"/>
                    <a:pt x="655516" y="424146"/>
                    <a:pt x="623927" y="455735"/>
                  </a:cubicBezTo>
                  <a:lnTo>
                    <a:pt x="455735" y="623927"/>
                  </a:lnTo>
                  <a:cubicBezTo>
                    <a:pt x="424146" y="655516"/>
                    <a:pt x="381304" y="673262"/>
                    <a:pt x="336631" y="673262"/>
                  </a:cubicBezTo>
                  <a:cubicBezTo>
                    <a:pt x="291959" y="673262"/>
                    <a:pt x="249116" y="655516"/>
                    <a:pt x="217527" y="623927"/>
                  </a:cubicBezTo>
                  <a:lnTo>
                    <a:pt x="49335" y="455735"/>
                  </a:lnTo>
                  <a:cubicBezTo>
                    <a:pt x="17746" y="424146"/>
                    <a:pt x="0" y="381304"/>
                    <a:pt x="0" y="336631"/>
                  </a:cubicBezTo>
                  <a:cubicBezTo>
                    <a:pt x="0" y="291959"/>
                    <a:pt x="17746" y="249116"/>
                    <a:pt x="49335" y="217527"/>
                  </a:cubicBezTo>
                  <a:lnTo>
                    <a:pt x="217527" y="49335"/>
                  </a:lnTo>
                  <a:cubicBezTo>
                    <a:pt x="249116" y="17746"/>
                    <a:pt x="291959" y="0"/>
                    <a:pt x="336631" y="0"/>
                  </a:cubicBezTo>
                  <a:cubicBezTo>
                    <a:pt x="381304" y="0"/>
                    <a:pt x="424146" y="17746"/>
                    <a:pt x="455735" y="49335"/>
                  </a:cubicBezTo>
                  <a:close/>
                </a:path>
              </a:pathLst>
            </a:custGeom>
            <a:ln w="38100" cap="sq">
              <a:gradFill>
                <a:gsLst>
                  <a:gs pos="0">
                    <a:srgbClr val="5DE0E6">
                      <a:alpha val="100000"/>
                    </a:srgbClr>
                  </a:gs>
                  <a:gs pos="100000">
                    <a:srgbClr val="004AAD">
                      <a:alpha val="100000"/>
                    </a:srgbClr>
                  </a:gs>
                </a:gsLst>
                <a:lin ang="0"/>
              </a:gradFill>
              <a:prstDash val="solid"/>
              <a:miter/>
            </a:ln>
          </p:spPr>
        </p:sp>
        <p:sp>
          <p:nvSpPr>
            <p:cNvPr id="17" name="TextBox 17"/>
            <p:cNvSpPr txBox="1"/>
            <p:nvPr/>
          </p:nvSpPr>
          <p:spPr>
            <a:xfrm>
              <a:off x="139700" y="101600"/>
              <a:ext cx="533400" cy="571500"/>
            </a:xfrm>
            <a:prstGeom prst="rect">
              <a:avLst/>
            </a:prstGeom>
          </p:spPr>
          <p:txBody>
            <a:bodyPr lIns="50800" tIns="50800" rIns="50800" bIns="50800" rtlCol="0" anchor="ctr"/>
            <a:lstStyle/>
            <a:p>
              <a:pPr algn="ctr">
                <a:lnSpc>
                  <a:spcPts val="2940"/>
                </a:lnSpc>
              </a:pPr>
              <a:endParaRPr/>
            </a:p>
          </p:txBody>
        </p:sp>
      </p:grpSp>
      <p:grpSp>
        <p:nvGrpSpPr>
          <p:cNvPr id="18" name="Group 18"/>
          <p:cNvGrpSpPr/>
          <p:nvPr/>
        </p:nvGrpSpPr>
        <p:grpSpPr>
          <a:xfrm>
            <a:off x="1291307" y="6831856"/>
            <a:ext cx="459631" cy="459631"/>
            <a:chOff x="0" y="0"/>
            <a:chExt cx="812800" cy="812800"/>
          </a:xfrm>
        </p:grpSpPr>
        <p:sp>
          <p:nvSpPr>
            <p:cNvPr id="19" name="Freeform 19"/>
            <p:cNvSpPr/>
            <p:nvPr/>
          </p:nvSpPr>
          <p:spPr>
            <a:xfrm>
              <a:off x="69769" y="69769"/>
              <a:ext cx="673262" cy="673262"/>
            </a:xfrm>
            <a:custGeom>
              <a:avLst/>
              <a:gdLst/>
              <a:ahLst/>
              <a:cxnLst/>
              <a:rect l="l" t="t" r="r" b="b"/>
              <a:pathLst>
                <a:path w="673262" h="673262">
                  <a:moveTo>
                    <a:pt x="455735" y="49335"/>
                  </a:moveTo>
                  <a:lnTo>
                    <a:pt x="623927" y="217527"/>
                  </a:lnTo>
                  <a:cubicBezTo>
                    <a:pt x="655516" y="249116"/>
                    <a:pt x="673262" y="291959"/>
                    <a:pt x="673262" y="336631"/>
                  </a:cubicBezTo>
                  <a:cubicBezTo>
                    <a:pt x="673262" y="381304"/>
                    <a:pt x="655516" y="424146"/>
                    <a:pt x="623927" y="455735"/>
                  </a:cubicBezTo>
                  <a:lnTo>
                    <a:pt x="455735" y="623927"/>
                  </a:lnTo>
                  <a:cubicBezTo>
                    <a:pt x="424146" y="655516"/>
                    <a:pt x="381304" y="673262"/>
                    <a:pt x="336631" y="673262"/>
                  </a:cubicBezTo>
                  <a:cubicBezTo>
                    <a:pt x="291959" y="673262"/>
                    <a:pt x="249116" y="655516"/>
                    <a:pt x="217527" y="623927"/>
                  </a:cubicBezTo>
                  <a:lnTo>
                    <a:pt x="49335" y="455735"/>
                  </a:lnTo>
                  <a:cubicBezTo>
                    <a:pt x="17746" y="424146"/>
                    <a:pt x="0" y="381304"/>
                    <a:pt x="0" y="336631"/>
                  </a:cubicBezTo>
                  <a:cubicBezTo>
                    <a:pt x="0" y="291959"/>
                    <a:pt x="17746" y="249116"/>
                    <a:pt x="49335" y="217527"/>
                  </a:cubicBezTo>
                  <a:lnTo>
                    <a:pt x="217527" y="49335"/>
                  </a:lnTo>
                  <a:cubicBezTo>
                    <a:pt x="249116" y="17746"/>
                    <a:pt x="291959" y="0"/>
                    <a:pt x="336631" y="0"/>
                  </a:cubicBezTo>
                  <a:cubicBezTo>
                    <a:pt x="381304" y="0"/>
                    <a:pt x="424146" y="17746"/>
                    <a:pt x="455735" y="49335"/>
                  </a:cubicBezTo>
                  <a:close/>
                </a:path>
              </a:pathLst>
            </a:custGeom>
            <a:ln w="38100" cap="sq">
              <a:gradFill>
                <a:gsLst>
                  <a:gs pos="0">
                    <a:srgbClr val="5DE0E6">
                      <a:alpha val="100000"/>
                    </a:srgbClr>
                  </a:gs>
                  <a:gs pos="100000">
                    <a:srgbClr val="004AAD">
                      <a:alpha val="100000"/>
                    </a:srgbClr>
                  </a:gs>
                </a:gsLst>
                <a:lin ang="0"/>
              </a:gradFill>
              <a:prstDash val="solid"/>
              <a:miter/>
            </a:ln>
          </p:spPr>
        </p:sp>
        <p:sp>
          <p:nvSpPr>
            <p:cNvPr id="20" name="TextBox 20"/>
            <p:cNvSpPr txBox="1"/>
            <p:nvPr/>
          </p:nvSpPr>
          <p:spPr>
            <a:xfrm>
              <a:off x="139700" y="101600"/>
              <a:ext cx="533400" cy="571500"/>
            </a:xfrm>
            <a:prstGeom prst="rect">
              <a:avLst/>
            </a:prstGeom>
          </p:spPr>
          <p:txBody>
            <a:bodyPr lIns="50800" tIns="50800" rIns="50800" bIns="50800" rtlCol="0" anchor="ctr"/>
            <a:lstStyle/>
            <a:p>
              <a:pPr algn="ctr">
                <a:lnSpc>
                  <a:spcPts val="2940"/>
                </a:lnSpc>
              </a:pPr>
              <a:endParaRPr/>
            </a:p>
          </p:txBody>
        </p:sp>
      </p:grpSp>
      <p:sp>
        <p:nvSpPr>
          <p:cNvPr id="21" name="TextBox 21"/>
          <p:cNvSpPr txBox="1"/>
          <p:nvPr/>
        </p:nvSpPr>
        <p:spPr>
          <a:xfrm>
            <a:off x="1291307" y="971550"/>
            <a:ext cx="11348362" cy="481330"/>
          </a:xfrm>
          <a:prstGeom prst="rect">
            <a:avLst/>
          </a:prstGeom>
        </p:spPr>
        <p:txBody>
          <a:bodyPr lIns="0" tIns="0" rIns="0" bIns="0" rtlCol="0" anchor="t">
            <a:spAutoFit/>
          </a:bodyPr>
          <a:lstStyle/>
          <a:p>
            <a:pPr algn="l">
              <a:lnSpc>
                <a:spcPts val="3920"/>
              </a:lnSpc>
              <a:spcBef>
                <a:spcPct val="0"/>
              </a:spcBef>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 METHODOLOGY OVERVIEW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7646581" y="-523428"/>
            <a:ext cx="11600207" cy="11009651"/>
          </a:xfrm>
          <a:custGeom>
            <a:avLst/>
            <a:gdLst/>
            <a:ahLst/>
            <a:cxnLst/>
            <a:rect l="l" t="t" r="r" b="b"/>
            <a:pathLst>
              <a:path w="11600207" h="11009651">
                <a:moveTo>
                  <a:pt x="0" y="0"/>
                </a:moveTo>
                <a:lnTo>
                  <a:pt x="11600208" y="0"/>
                </a:lnTo>
                <a:lnTo>
                  <a:pt x="11600208" y="11009651"/>
                </a:lnTo>
                <a:lnTo>
                  <a:pt x="0" y="11009651"/>
                </a:lnTo>
                <a:lnTo>
                  <a:pt x="0" y="0"/>
                </a:lnTo>
                <a:close/>
              </a:path>
            </a:pathLst>
          </a:custGeom>
          <a:blipFill>
            <a:blip>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372046" y="8093386"/>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971463" y="1816703"/>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1291307" y="2137858"/>
            <a:ext cx="459631" cy="459631"/>
            <a:chOff x="0" y="0"/>
            <a:chExt cx="812800" cy="812800"/>
          </a:xfrm>
        </p:grpSpPr>
        <p:sp>
          <p:nvSpPr>
            <p:cNvPr id="8" name="Freeform 8"/>
            <p:cNvSpPr/>
            <p:nvPr/>
          </p:nvSpPr>
          <p:spPr>
            <a:xfrm>
              <a:off x="69769" y="69769"/>
              <a:ext cx="673262" cy="673262"/>
            </a:xfrm>
            <a:custGeom>
              <a:avLst/>
              <a:gdLst/>
              <a:ahLst/>
              <a:cxnLst/>
              <a:rect l="l" t="t" r="r" b="b"/>
              <a:pathLst>
                <a:path w="673262" h="673262">
                  <a:moveTo>
                    <a:pt x="455735" y="49335"/>
                  </a:moveTo>
                  <a:lnTo>
                    <a:pt x="623927" y="217527"/>
                  </a:lnTo>
                  <a:cubicBezTo>
                    <a:pt x="655516" y="249116"/>
                    <a:pt x="673262" y="291959"/>
                    <a:pt x="673262" y="336631"/>
                  </a:cubicBezTo>
                  <a:cubicBezTo>
                    <a:pt x="673262" y="381304"/>
                    <a:pt x="655516" y="424146"/>
                    <a:pt x="623927" y="455735"/>
                  </a:cubicBezTo>
                  <a:lnTo>
                    <a:pt x="455735" y="623927"/>
                  </a:lnTo>
                  <a:cubicBezTo>
                    <a:pt x="424146" y="655516"/>
                    <a:pt x="381304" y="673262"/>
                    <a:pt x="336631" y="673262"/>
                  </a:cubicBezTo>
                  <a:cubicBezTo>
                    <a:pt x="291959" y="673262"/>
                    <a:pt x="249116" y="655516"/>
                    <a:pt x="217527" y="623927"/>
                  </a:cubicBezTo>
                  <a:lnTo>
                    <a:pt x="49335" y="455735"/>
                  </a:lnTo>
                  <a:cubicBezTo>
                    <a:pt x="17746" y="424146"/>
                    <a:pt x="0" y="381304"/>
                    <a:pt x="0" y="336631"/>
                  </a:cubicBezTo>
                  <a:cubicBezTo>
                    <a:pt x="0" y="291959"/>
                    <a:pt x="17746" y="249116"/>
                    <a:pt x="49335" y="217527"/>
                  </a:cubicBezTo>
                  <a:lnTo>
                    <a:pt x="217527" y="49335"/>
                  </a:lnTo>
                  <a:cubicBezTo>
                    <a:pt x="249116" y="17746"/>
                    <a:pt x="291959" y="0"/>
                    <a:pt x="336631" y="0"/>
                  </a:cubicBezTo>
                  <a:cubicBezTo>
                    <a:pt x="381304" y="0"/>
                    <a:pt x="424146" y="17746"/>
                    <a:pt x="455735" y="49335"/>
                  </a:cubicBezTo>
                  <a:close/>
                </a:path>
              </a:pathLst>
            </a:custGeom>
            <a:ln w="38100" cap="sq">
              <a:gradFill>
                <a:gsLst>
                  <a:gs pos="0">
                    <a:srgbClr val="5DE0E6">
                      <a:alpha val="100000"/>
                    </a:srgbClr>
                  </a:gs>
                  <a:gs pos="100000">
                    <a:srgbClr val="004AAD">
                      <a:alpha val="100000"/>
                    </a:srgbClr>
                  </a:gs>
                </a:gsLst>
                <a:lin ang="0"/>
              </a:gradFill>
              <a:prstDash val="solid"/>
              <a:miter/>
            </a:ln>
          </p:spPr>
        </p:sp>
        <p:sp>
          <p:nvSpPr>
            <p:cNvPr id="9" name="TextBox 9"/>
            <p:cNvSpPr txBox="1"/>
            <p:nvPr/>
          </p:nvSpPr>
          <p:spPr>
            <a:xfrm>
              <a:off x="139700" y="101600"/>
              <a:ext cx="533400" cy="571500"/>
            </a:xfrm>
            <a:prstGeom prst="rect">
              <a:avLst/>
            </a:prstGeom>
          </p:spPr>
          <p:txBody>
            <a:bodyPr lIns="50800" tIns="50800" rIns="50800" bIns="50800" rtlCol="0" anchor="ctr"/>
            <a:lstStyle/>
            <a:p>
              <a:pPr algn="ctr">
                <a:lnSpc>
                  <a:spcPts val="2940"/>
                </a:lnSpc>
              </a:pPr>
              <a:endParaRPr/>
            </a:p>
          </p:txBody>
        </p:sp>
      </p:grpSp>
      <p:sp>
        <p:nvSpPr>
          <p:cNvPr id="10" name="TextBox 10"/>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11</a:t>
            </a:r>
          </a:p>
        </p:txBody>
      </p:sp>
      <p:sp>
        <p:nvSpPr>
          <p:cNvPr id="11" name="TextBox 11"/>
          <p:cNvSpPr txBox="1"/>
          <p:nvPr/>
        </p:nvSpPr>
        <p:spPr>
          <a:xfrm>
            <a:off x="1953334" y="2099758"/>
            <a:ext cx="15703730" cy="2491485"/>
          </a:xfrm>
          <a:prstGeom prst="rect">
            <a:avLst/>
          </a:prstGeom>
        </p:spPr>
        <p:txBody>
          <a:bodyPr lIns="0" tIns="0" rIns="0" bIns="0" rtlCol="0" anchor="t">
            <a:spAutoFit/>
          </a:bodyPr>
          <a:lstStyle/>
          <a:p>
            <a:pPr algn="l">
              <a:lnSpc>
                <a:spcPts val="3360"/>
              </a:lnSpc>
            </a:pPr>
            <a:r>
              <a:rPr lang="en-US" sz="2400" b="1">
                <a:solidFill>
                  <a:srgbClr val="FFFCFC"/>
                </a:solidFill>
                <a:latin typeface="Lora Bold" panose="00000800000000000000"/>
                <a:ea typeface="Lora Bold" panose="00000800000000000000"/>
                <a:cs typeface="Lora Bold" panose="00000800000000000000"/>
                <a:sym typeface="Lora Bold" panose="00000800000000000000"/>
              </a:rPr>
              <a:t>Model Training : </a:t>
            </a:r>
            <a:r>
              <a:rPr lang="en-US" sz="2400">
                <a:solidFill>
                  <a:srgbClr val="FFFCFC"/>
                </a:solidFill>
                <a:latin typeface="Lora" panose="00000500000000000000"/>
                <a:ea typeface="Lora" panose="00000500000000000000"/>
                <a:cs typeface="Lora" panose="00000500000000000000"/>
                <a:sym typeface="Lora" panose="00000500000000000000"/>
              </a:rPr>
              <a:t>Model is trained using this dataset so that it learns to generate captions accurately. The dataset was divided into 80:20 ratio. 80% used for training the model and 20% percent used for validating the model and adjusting the model parameters accordingly.</a:t>
            </a:r>
          </a:p>
          <a:p>
            <a:pPr algn="l">
              <a:lnSpc>
                <a:spcPts val="3360"/>
              </a:lnSpc>
            </a:pPr>
            <a:endParaRPr lang="en-US" sz="2400">
              <a:solidFill>
                <a:srgbClr val="FFFCFC"/>
              </a:solidFill>
              <a:latin typeface="Lora" panose="00000500000000000000"/>
              <a:ea typeface="Lora" panose="00000500000000000000"/>
              <a:cs typeface="Lora" panose="00000500000000000000"/>
              <a:sym typeface="Lora" panose="00000500000000000000"/>
            </a:endParaRPr>
          </a:p>
          <a:p>
            <a:pPr algn="l">
              <a:lnSpc>
                <a:spcPts val="3360"/>
              </a:lnSpc>
              <a:spcBef>
                <a:spcPct val="0"/>
              </a:spcBef>
            </a:pPr>
            <a:r>
              <a:rPr lang="en-US" sz="2400" b="1">
                <a:solidFill>
                  <a:srgbClr val="FFFCFC"/>
                </a:solidFill>
                <a:latin typeface="Lora Bold" panose="00000800000000000000"/>
                <a:ea typeface="Lora Bold" panose="00000800000000000000"/>
                <a:cs typeface="Lora Bold" panose="00000800000000000000"/>
                <a:sym typeface="Lora Bold" panose="00000800000000000000"/>
              </a:rPr>
              <a:t>Caption geeration and Evaluation :</a:t>
            </a:r>
            <a:r>
              <a:rPr lang="en-US" sz="2400">
                <a:solidFill>
                  <a:srgbClr val="FFFCFC"/>
                </a:solidFill>
                <a:latin typeface="Lora" panose="00000500000000000000"/>
                <a:ea typeface="Lora" panose="00000500000000000000"/>
                <a:cs typeface="Lora" panose="00000500000000000000"/>
                <a:sym typeface="Lora" panose="00000500000000000000"/>
              </a:rPr>
              <a:t> Test the trained model using new images and evaluate the genrated captions using BLEU, METEOR, ROUGE-L Scores , Word-level accuracy, Precision, Recall and F1-score. </a:t>
            </a:r>
          </a:p>
        </p:txBody>
      </p:sp>
      <p:grpSp>
        <p:nvGrpSpPr>
          <p:cNvPr id="12" name="Group 12"/>
          <p:cNvGrpSpPr/>
          <p:nvPr/>
        </p:nvGrpSpPr>
        <p:grpSpPr>
          <a:xfrm>
            <a:off x="1291307" y="3873130"/>
            <a:ext cx="459631" cy="459631"/>
            <a:chOff x="0" y="0"/>
            <a:chExt cx="812800" cy="812800"/>
          </a:xfrm>
        </p:grpSpPr>
        <p:sp>
          <p:nvSpPr>
            <p:cNvPr id="13" name="Freeform 13"/>
            <p:cNvSpPr/>
            <p:nvPr/>
          </p:nvSpPr>
          <p:spPr>
            <a:xfrm>
              <a:off x="69769" y="69769"/>
              <a:ext cx="673262" cy="673262"/>
            </a:xfrm>
            <a:custGeom>
              <a:avLst/>
              <a:gdLst/>
              <a:ahLst/>
              <a:cxnLst/>
              <a:rect l="l" t="t" r="r" b="b"/>
              <a:pathLst>
                <a:path w="673262" h="673262">
                  <a:moveTo>
                    <a:pt x="455735" y="49335"/>
                  </a:moveTo>
                  <a:lnTo>
                    <a:pt x="623927" y="217527"/>
                  </a:lnTo>
                  <a:cubicBezTo>
                    <a:pt x="655516" y="249116"/>
                    <a:pt x="673262" y="291959"/>
                    <a:pt x="673262" y="336631"/>
                  </a:cubicBezTo>
                  <a:cubicBezTo>
                    <a:pt x="673262" y="381304"/>
                    <a:pt x="655516" y="424146"/>
                    <a:pt x="623927" y="455735"/>
                  </a:cubicBezTo>
                  <a:lnTo>
                    <a:pt x="455735" y="623927"/>
                  </a:lnTo>
                  <a:cubicBezTo>
                    <a:pt x="424146" y="655516"/>
                    <a:pt x="381304" y="673262"/>
                    <a:pt x="336631" y="673262"/>
                  </a:cubicBezTo>
                  <a:cubicBezTo>
                    <a:pt x="291959" y="673262"/>
                    <a:pt x="249116" y="655516"/>
                    <a:pt x="217527" y="623927"/>
                  </a:cubicBezTo>
                  <a:lnTo>
                    <a:pt x="49335" y="455735"/>
                  </a:lnTo>
                  <a:cubicBezTo>
                    <a:pt x="17746" y="424146"/>
                    <a:pt x="0" y="381304"/>
                    <a:pt x="0" y="336631"/>
                  </a:cubicBezTo>
                  <a:cubicBezTo>
                    <a:pt x="0" y="291959"/>
                    <a:pt x="17746" y="249116"/>
                    <a:pt x="49335" y="217527"/>
                  </a:cubicBezTo>
                  <a:lnTo>
                    <a:pt x="217527" y="49335"/>
                  </a:lnTo>
                  <a:cubicBezTo>
                    <a:pt x="249116" y="17746"/>
                    <a:pt x="291959" y="0"/>
                    <a:pt x="336631" y="0"/>
                  </a:cubicBezTo>
                  <a:cubicBezTo>
                    <a:pt x="381304" y="0"/>
                    <a:pt x="424146" y="17746"/>
                    <a:pt x="455735" y="49335"/>
                  </a:cubicBezTo>
                  <a:close/>
                </a:path>
              </a:pathLst>
            </a:custGeom>
            <a:ln w="38100" cap="sq">
              <a:gradFill>
                <a:gsLst>
                  <a:gs pos="0">
                    <a:srgbClr val="5DE0E6">
                      <a:alpha val="100000"/>
                    </a:srgbClr>
                  </a:gs>
                  <a:gs pos="100000">
                    <a:srgbClr val="004AAD">
                      <a:alpha val="100000"/>
                    </a:srgbClr>
                  </a:gs>
                </a:gsLst>
                <a:lin ang="0"/>
              </a:gradFill>
              <a:prstDash val="solid"/>
              <a:miter/>
            </a:ln>
          </p:spPr>
        </p:sp>
        <p:sp>
          <p:nvSpPr>
            <p:cNvPr id="14" name="TextBox 14"/>
            <p:cNvSpPr txBox="1"/>
            <p:nvPr/>
          </p:nvSpPr>
          <p:spPr>
            <a:xfrm>
              <a:off x="139700" y="101600"/>
              <a:ext cx="533400" cy="571500"/>
            </a:xfrm>
            <a:prstGeom prst="rect">
              <a:avLst/>
            </a:prstGeom>
          </p:spPr>
          <p:txBody>
            <a:bodyPr lIns="50800" tIns="50800" rIns="50800" bIns="50800" rtlCol="0" anchor="ctr"/>
            <a:lstStyle/>
            <a:p>
              <a:pPr algn="ctr">
                <a:lnSpc>
                  <a:spcPts val="2940"/>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1028700" y="9306414"/>
            <a:ext cx="16230600" cy="0"/>
          </a:xfrm>
          <a:prstGeom prst="line">
            <a:avLst/>
          </a:prstGeom>
          <a:ln w="19050" cap="flat">
            <a:solidFill>
              <a:srgbClr val="FFFFFF"/>
            </a:solidFill>
            <a:prstDash val="solid"/>
            <a:headEnd type="none" w="sm" len="sm"/>
            <a:tailEnd type="none" w="sm" len="sm"/>
          </a:ln>
        </p:spPr>
      </p:sp>
      <p:sp>
        <p:nvSpPr>
          <p:cNvPr id="3" name="Freeform 3"/>
          <p:cNvSpPr/>
          <p:nvPr/>
        </p:nvSpPr>
        <p:spPr>
          <a:xfrm>
            <a:off x="-189713" y="4797079"/>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4217776" y="1288108"/>
            <a:ext cx="9723215" cy="7420706"/>
          </a:xfrm>
          <a:custGeom>
            <a:avLst/>
            <a:gdLst/>
            <a:ahLst/>
            <a:cxnLst/>
            <a:rect l="l" t="t" r="r" b="b"/>
            <a:pathLst>
              <a:path w="9723215" h="7420706">
                <a:moveTo>
                  <a:pt x="0" y="0"/>
                </a:moveTo>
                <a:lnTo>
                  <a:pt x="9723215" y="0"/>
                </a:lnTo>
                <a:lnTo>
                  <a:pt x="9723215" y="7420707"/>
                </a:lnTo>
                <a:lnTo>
                  <a:pt x="0" y="7420707"/>
                </a:lnTo>
                <a:lnTo>
                  <a:pt x="0" y="0"/>
                </a:lnTo>
                <a:close/>
              </a:path>
            </a:pathLst>
          </a:custGeom>
          <a:blipFill>
            <a:blip r:embed="rId3"/>
            <a:stretch>
              <a:fillRect l="-6526"/>
            </a:stretch>
          </a:blipFill>
        </p:spPr>
      </p:sp>
      <p:sp>
        <p:nvSpPr>
          <p:cNvPr id="6" name="TextBox 6"/>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12</a:t>
            </a:r>
          </a:p>
        </p:txBody>
      </p:sp>
      <p:sp>
        <p:nvSpPr>
          <p:cNvPr id="7" name="TextBox 7"/>
          <p:cNvSpPr txBox="1"/>
          <p:nvPr/>
        </p:nvSpPr>
        <p:spPr>
          <a:xfrm>
            <a:off x="6887832" y="8799302"/>
            <a:ext cx="5477669" cy="396239"/>
          </a:xfrm>
          <a:prstGeom prst="rect">
            <a:avLst/>
          </a:prstGeom>
        </p:spPr>
        <p:txBody>
          <a:bodyPr lIns="0" tIns="0" rIns="0" bIns="0" rtlCol="0" anchor="t">
            <a:spAutoFit/>
          </a:bodyPr>
          <a:lstStyle/>
          <a:p>
            <a:pPr algn="ctr">
              <a:lnSpc>
                <a:spcPts val="3360"/>
              </a:lnSpc>
            </a:pPr>
            <a:r>
              <a:rPr lang="en-US" sz="2400" dirty="0">
                <a:solidFill>
                  <a:srgbClr val="FFFFFF"/>
                </a:solidFill>
                <a:latin typeface="Lora" panose="00000500000000000000"/>
                <a:ea typeface="Lora" panose="00000500000000000000"/>
                <a:cs typeface="Lora" panose="00000500000000000000"/>
                <a:sym typeface="Lora" panose="00000500000000000000"/>
              </a:rPr>
              <a:t>Fig 2 : Encoder-Decoder Architecture  </a:t>
            </a:r>
          </a:p>
        </p:txBody>
      </p:sp>
      <p:sp>
        <p:nvSpPr>
          <p:cNvPr id="8" name="TextBox 8"/>
          <p:cNvSpPr txBox="1"/>
          <p:nvPr/>
        </p:nvSpPr>
        <p:spPr>
          <a:xfrm>
            <a:off x="2433290" y="206384"/>
            <a:ext cx="13421420" cy="953137"/>
          </a:xfrm>
          <a:prstGeom prst="rect">
            <a:avLst/>
          </a:prstGeom>
        </p:spPr>
        <p:txBody>
          <a:bodyPr lIns="0" tIns="0" rIns="0" bIns="0" rtlCol="0" anchor="t">
            <a:spAutoFit/>
          </a:bodyPr>
          <a:lstStyle/>
          <a:p>
            <a:pPr algn="ctr">
              <a:lnSpc>
                <a:spcPts val="7840"/>
              </a:lnSpc>
              <a:spcBef>
                <a:spcPct val="0"/>
              </a:spcBef>
            </a:pPr>
            <a:r>
              <a:rPr lang="en-US" sz="5600" b="1">
                <a:solidFill>
                  <a:srgbClr val="59DAE4"/>
                </a:solidFill>
                <a:latin typeface="Lora Bold" panose="00000800000000000000"/>
                <a:ea typeface="Lora Bold" panose="00000800000000000000"/>
                <a:cs typeface="Lora Bold" panose="00000800000000000000"/>
                <a:sym typeface="Lora Bold" panose="00000800000000000000"/>
              </a:rPr>
              <a:t>EXPERIMENTAL SETUP AND RESULTS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13855869" y="2252976"/>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1028700" y="1304285"/>
            <a:ext cx="16230600" cy="7520175"/>
          </a:xfrm>
          <a:prstGeom prst="rect">
            <a:avLst/>
          </a:prstGeom>
        </p:spPr>
        <p:txBody>
          <a:bodyPr lIns="0" tIns="0" rIns="0" bIns="0" rtlCol="0" anchor="t">
            <a:spAutoFit/>
          </a:bodyPr>
          <a:lstStyle/>
          <a:p>
            <a:pPr marL="518160" lvl="1" indent="-259080" algn="l">
              <a:lnSpc>
                <a:spcPts val="3360"/>
              </a:lnSpc>
              <a:buFont typeface="Arial" panose="020B0604020202020204"/>
              <a:buChar char="•"/>
            </a:pPr>
            <a:r>
              <a:rPr lang="en-US" sz="2400">
                <a:solidFill>
                  <a:srgbClr val="FFFCFC"/>
                </a:solidFill>
                <a:latin typeface="Lora" panose="00000500000000000000"/>
                <a:ea typeface="Lora" panose="00000500000000000000"/>
                <a:cs typeface="Lora" panose="00000500000000000000"/>
                <a:sym typeface="Lora" panose="00000500000000000000"/>
              </a:rPr>
              <a:t>Images are given to the encoder which gradually transforms raw pixels into a more meaningful numerical representation. In image captioning, using Inception V3, a pre trained CNN model it can extract features from the image.</a:t>
            </a:r>
          </a:p>
          <a:p>
            <a:pPr marL="518160" lvl="1" indent="-259080" algn="l">
              <a:lnSpc>
                <a:spcPts val="3360"/>
              </a:lnSpc>
              <a:buFont typeface="Arial" panose="020B0604020202020204"/>
              <a:buChar char="•"/>
            </a:pPr>
            <a:r>
              <a:rPr lang="en-US" sz="2400">
                <a:solidFill>
                  <a:srgbClr val="FFFCFC"/>
                </a:solidFill>
                <a:latin typeface="Lora" panose="00000500000000000000"/>
                <a:ea typeface="Lora" panose="00000500000000000000"/>
                <a:cs typeface="Lora" panose="00000500000000000000"/>
                <a:sym typeface="Lora" panose="00000500000000000000"/>
              </a:rPr>
              <a:t>Encoder outputs the hidden states and the decoder current hidden state are passed to the alignment layer       </a:t>
            </a:r>
          </a:p>
          <a:p>
            <a:pPr marL="518160" lvl="1" indent="-259080" algn="l">
              <a:lnSpc>
                <a:spcPts val="3360"/>
              </a:lnSpc>
              <a:buFont typeface="Arial" panose="020B0604020202020204"/>
              <a:buChar char="•"/>
            </a:pPr>
            <a:r>
              <a:rPr lang="en-US" sz="2400">
                <a:solidFill>
                  <a:srgbClr val="FFFCFC"/>
                </a:solidFill>
                <a:latin typeface="Lora" panose="00000500000000000000"/>
                <a:ea typeface="Lora" panose="00000500000000000000"/>
                <a:cs typeface="Lora" panose="00000500000000000000"/>
                <a:sym typeface="Lora" panose="00000500000000000000"/>
              </a:rPr>
              <a:t>which will compute the alignment score .</a:t>
            </a:r>
          </a:p>
          <a:p>
            <a:pPr marL="518160" lvl="1" indent="-259080" algn="l">
              <a:lnSpc>
                <a:spcPts val="3360"/>
              </a:lnSpc>
              <a:buFont typeface="Arial" panose="020B0604020202020204"/>
              <a:buChar char="•"/>
            </a:pPr>
            <a:r>
              <a:rPr lang="en-US" sz="2400">
                <a:solidFill>
                  <a:srgbClr val="FFFCFC"/>
                </a:solidFill>
                <a:latin typeface="Lora" panose="00000500000000000000"/>
                <a:ea typeface="Lora" panose="00000500000000000000"/>
                <a:cs typeface="Lora" panose="00000500000000000000"/>
                <a:sym typeface="Lora" panose="00000500000000000000"/>
              </a:rPr>
              <a:t>In additive attention, alignment score is calculated as </a:t>
            </a:r>
          </a:p>
          <a:p>
            <a:pPr algn="l">
              <a:lnSpc>
                <a:spcPts val="3360"/>
              </a:lnSpc>
            </a:pPr>
            <a:endParaRPr lang="en-US" sz="2400">
              <a:solidFill>
                <a:srgbClr val="FFFCFC"/>
              </a:solidFill>
              <a:latin typeface="Lora" panose="00000500000000000000"/>
              <a:ea typeface="Lora" panose="00000500000000000000"/>
              <a:cs typeface="Lora" panose="00000500000000000000"/>
              <a:sym typeface="Lora" panose="00000500000000000000"/>
            </a:endParaRPr>
          </a:p>
          <a:p>
            <a:pPr marL="518160" lvl="1" indent="-259080" algn="l">
              <a:lnSpc>
                <a:spcPts val="3360"/>
              </a:lnSpc>
              <a:buFont typeface="Arial" panose="020B0604020202020204"/>
              <a:buChar char="•"/>
            </a:pPr>
            <a:r>
              <a:rPr lang="en-US" sz="2400">
                <a:solidFill>
                  <a:srgbClr val="FFFCFC"/>
                </a:solidFill>
                <a:latin typeface="Lora" panose="00000500000000000000"/>
                <a:ea typeface="Lora" panose="00000500000000000000"/>
                <a:cs typeface="Lora" panose="00000500000000000000"/>
                <a:sym typeface="Lora" panose="00000500000000000000"/>
              </a:rPr>
              <a:t>Tanh activation function is used to introduce non-linearity into the alignment layer, allowing the model to learn complex relationships.</a:t>
            </a:r>
          </a:p>
          <a:p>
            <a:pPr marL="518160" lvl="1" indent="-259080" algn="l">
              <a:lnSpc>
                <a:spcPts val="3360"/>
              </a:lnSpc>
              <a:buFont typeface="Arial" panose="020B0604020202020204"/>
              <a:buChar char="•"/>
            </a:pPr>
            <a:r>
              <a:rPr lang="en-US" sz="2400">
                <a:solidFill>
                  <a:srgbClr val="FFFCFC"/>
                </a:solidFill>
                <a:latin typeface="Lora" panose="00000500000000000000"/>
                <a:ea typeface="Lora" panose="00000500000000000000"/>
                <a:cs typeface="Lora" panose="00000500000000000000"/>
                <a:sym typeface="Lora" panose="00000500000000000000"/>
              </a:rPr>
              <a:t>The alignment layer compares the decoder’s state with each image region features for calculating the alignment score. Alignment score tells the decoder on which part of encoder’s output it needs to pay attention.</a:t>
            </a:r>
          </a:p>
          <a:p>
            <a:pPr marL="518160" lvl="1" indent="-259080" algn="l">
              <a:lnSpc>
                <a:spcPts val="3360"/>
              </a:lnSpc>
              <a:buFont typeface="Arial" panose="020B0604020202020204"/>
              <a:buChar char="•"/>
            </a:pPr>
            <a:r>
              <a:rPr lang="en-US" sz="2400">
                <a:solidFill>
                  <a:srgbClr val="FFFCFC"/>
                </a:solidFill>
                <a:latin typeface="Lora" panose="00000500000000000000"/>
                <a:ea typeface="Lora" panose="00000500000000000000"/>
                <a:cs typeface="Lora" panose="00000500000000000000"/>
                <a:sym typeface="Lora" panose="00000500000000000000"/>
              </a:rPr>
              <a:t>To convert the raw alignment score to normalized attention weights we need to apply softmax layer. Attention weights tells us how much importance each image region should receive.</a:t>
            </a:r>
          </a:p>
          <a:p>
            <a:pPr marL="518160" lvl="1" indent="-259080" algn="l">
              <a:lnSpc>
                <a:spcPts val="3360"/>
              </a:lnSpc>
              <a:buFont typeface="Arial" panose="020B0604020202020204"/>
              <a:buChar char="•"/>
            </a:pPr>
            <a:r>
              <a:rPr lang="en-US" sz="2400">
                <a:solidFill>
                  <a:srgbClr val="FFFCFC"/>
                </a:solidFill>
                <a:latin typeface="Lora" panose="00000500000000000000"/>
                <a:ea typeface="Lora" panose="00000500000000000000"/>
                <a:cs typeface="Lora" panose="00000500000000000000"/>
                <a:sym typeface="Lora" panose="00000500000000000000"/>
              </a:rPr>
              <a:t>The attention weight and hidden states of encoder will be added together to produce context vector. The model combines image features, giving importance to region with higher weights.</a:t>
            </a:r>
          </a:p>
          <a:p>
            <a:pPr marL="518160" lvl="1" indent="-259080" algn="l">
              <a:lnSpc>
                <a:spcPts val="3360"/>
              </a:lnSpc>
              <a:spcBef>
                <a:spcPct val="0"/>
              </a:spcBef>
              <a:buFont typeface="Arial" panose="020B0604020202020204"/>
              <a:buChar char="•"/>
            </a:pPr>
            <a:r>
              <a:rPr lang="en-US" sz="2400">
                <a:solidFill>
                  <a:srgbClr val="FFFCFC"/>
                </a:solidFill>
                <a:latin typeface="Lora" panose="00000500000000000000"/>
                <a:ea typeface="Lora" panose="00000500000000000000"/>
                <a:cs typeface="Lora" panose="00000500000000000000"/>
                <a:sym typeface="Lora" panose="00000500000000000000"/>
              </a:rPr>
              <a:t>The decoder uses this visual context to generate the next word using embedding layer(RNN layer), the output from decoder at last time stamp and context vector will be used by decoder for generating the next word, so this is how Bahdanau self attention works and the caption is generated  as an output for the given input image.</a:t>
            </a:r>
          </a:p>
        </p:txBody>
      </p:sp>
      <p:sp>
        <p:nvSpPr>
          <p:cNvPr id="9" name="Freeform 9"/>
          <p:cNvSpPr/>
          <p:nvPr/>
        </p:nvSpPr>
        <p:spPr>
          <a:xfrm>
            <a:off x="9144000" y="3343468"/>
            <a:ext cx="3920587" cy="888161"/>
          </a:xfrm>
          <a:custGeom>
            <a:avLst/>
            <a:gdLst/>
            <a:ahLst/>
            <a:cxnLst/>
            <a:rect l="l" t="t" r="r" b="b"/>
            <a:pathLst>
              <a:path w="3920587" h="888161">
                <a:moveTo>
                  <a:pt x="0" y="0"/>
                </a:moveTo>
                <a:lnTo>
                  <a:pt x="3920587" y="0"/>
                </a:lnTo>
                <a:lnTo>
                  <a:pt x="3920587" y="888162"/>
                </a:lnTo>
                <a:lnTo>
                  <a:pt x="0" y="888162"/>
                </a:lnTo>
                <a:lnTo>
                  <a:pt x="0" y="0"/>
                </a:lnTo>
                <a:close/>
              </a:path>
            </a:pathLst>
          </a:custGeom>
          <a:blipFill>
            <a:blip r:embed="rId4"/>
            <a:stretch>
              <a:fillRect t="-11678" b="-11678"/>
            </a:stretch>
          </a:blipFill>
        </p:spPr>
      </p:sp>
      <p:sp>
        <p:nvSpPr>
          <p:cNvPr id="10" name="TextBox 10"/>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13</a:t>
            </a:r>
          </a:p>
        </p:txBody>
      </p:sp>
      <p:sp>
        <p:nvSpPr>
          <p:cNvPr id="11" name="TextBox 11"/>
          <p:cNvSpPr txBox="1"/>
          <p:nvPr/>
        </p:nvSpPr>
        <p:spPr>
          <a:xfrm>
            <a:off x="838200" y="450850"/>
            <a:ext cx="3409315" cy="447675"/>
          </a:xfrm>
          <a:prstGeom prst="rect">
            <a:avLst/>
          </a:prstGeom>
        </p:spPr>
        <p:txBody>
          <a:bodyPr lIns="0" tIns="0" rIns="0" bIns="0" rtlCol="0" anchor="t">
            <a:noAutofit/>
          </a:bodyPr>
          <a:lstStyle/>
          <a:p>
            <a:pPr algn="ctr">
              <a:lnSpc>
                <a:spcPts val="3920"/>
              </a:lnSpc>
              <a:spcBef>
                <a:spcPct val="0"/>
              </a:spcBef>
            </a:pPr>
            <a:r>
              <a:rPr lang="en-US" sz="2800" b="1">
                <a:solidFill>
                  <a:srgbClr val="FFFCFC"/>
                </a:solidFill>
                <a:latin typeface="Lora Bold" panose="00000800000000000000"/>
                <a:ea typeface="Lora Bold" panose="00000800000000000000"/>
                <a:cs typeface="Lora Bold" panose="00000800000000000000"/>
                <a:sym typeface="Lora Bold" panose="00000800000000000000"/>
              </a:rPr>
              <a:t>EXPLANATION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390097"/>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596402" y="2046136"/>
            <a:ext cx="12789302" cy="6792059"/>
          </a:xfrm>
          <a:custGeom>
            <a:avLst/>
            <a:gdLst/>
            <a:ahLst/>
            <a:cxnLst/>
            <a:rect l="l" t="t" r="r" b="b"/>
            <a:pathLst>
              <a:path w="12789302" h="6792059">
                <a:moveTo>
                  <a:pt x="0" y="0"/>
                </a:moveTo>
                <a:lnTo>
                  <a:pt x="12789302" y="0"/>
                </a:lnTo>
                <a:lnTo>
                  <a:pt x="12789302" y="6792059"/>
                </a:lnTo>
                <a:lnTo>
                  <a:pt x="0" y="6792059"/>
                </a:lnTo>
                <a:lnTo>
                  <a:pt x="0" y="0"/>
                </a:lnTo>
                <a:close/>
              </a:path>
            </a:pathLst>
          </a:custGeom>
          <a:blipFill>
            <a:blip r:embed="rId4"/>
            <a:stretch>
              <a:fillRect/>
            </a:stretch>
          </a:blipFill>
        </p:spPr>
      </p:sp>
      <p:sp>
        <p:nvSpPr>
          <p:cNvPr id="8" name="TextBox 8"/>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14</a:t>
            </a:r>
          </a:p>
        </p:txBody>
      </p:sp>
      <p:sp>
        <p:nvSpPr>
          <p:cNvPr id="9" name="TextBox 9"/>
          <p:cNvSpPr txBox="1"/>
          <p:nvPr/>
        </p:nvSpPr>
        <p:spPr>
          <a:xfrm>
            <a:off x="7080885" y="390525"/>
            <a:ext cx="4362450" cy="1005205"/>
          </a:xfrm>
          <a:prstGeom prst="rect">
            <a:avLst/>
          </a:prstGeom>
        </p:spPr>
        <p:txBody>
          <a:bodyPr wrap="square" lIns="0" tIns="0" rIns="0" bIns="0" rtlCol="0" anchor="t">
            <a:spAutoFit/>
          </a:bodyPr>
          <a:lstStyle/>
          <a:p>
            <a:pPr algn="ctr">
              <a:lnSpc>
                <a:spcPts val="7840"/>
              </a:lnSpc>
              <a:spcBef>
                <a:spcPct val="0"/>
              </a:spcBef>
            </a:pPr>
            <a:r>
              <a:rPr lang="en-US" sz="5600" b="1">
                <a:solidFill>
                  <a:srgbClr val="59DAE4"/>
                </a:solidFill>
                <a:latin typeface="Lora Bold" panose="00000800000000000000"/>
                <a:ea typeface="Lora Bold" panose="00000800000000000000"/>
                <a:cs typeface="Lora Bold" panose="00000800000000000000"/>
                <a:sym typeface="Lora Bold" panose="00000800000000000000"/>
              </a:rPr>
              <a:t>RESULTS</a:t>
            </a:r>
          </a:p>
        </p:txBody>
      </p:sp>
      <p:sp>
        <p:nvSpPr>
          <p:cNvPr id="10" name="TextBox 10"/>
          <p:cNvSpPr txBox="1"/>
          <p:nvPr/>
        </p:nvSpPr>
        <p:spPr>
          <a:xfrm>
            <a:off x="596402" y="1534100"/>
            <a:ext cx="16899169" cy="396197"/>
          </a:xfrm>
          <a:prstGeom prst="rect">
            <a:avLst/>
          </a:prstGeom>
        </p:spPr>
        <p:txBody>
          <a:bodyPr lIns="0" tIns="0" rIns="0" bIns="0" rtlCol="0" anchor="t">
            <a:spAutoFit/>
          </a:bodyPr>
          <a:lstStyle/>
          <a:p>
            <a:pPr algn="l">
              <a:lnSpc>
                <a:spcPts val="3360"/>
              </a:lnSpc>
              <a:spcBef>
                <a:spcPct val="0"/>
              </a:spcBef>
            </a:pPr>
            <a:r>
              <a:rPr lang="en-US" sz="2400">
                <a:solidFill>
                  <a:srgbClr val="FFFFFF"/>
                </a:solidFill>
                <a:latin typeface="Lora" panose="00000500000000000000"/>
                <a:ea typeface="Lora" panose="00000500000000000000"/>
                <a:cs typeface="Lora" panose="00000500000000000000"/>
                <a:sym typeface="Lora" panose="00000500000000000000"/>
              </a:rPr>
              <a:t>The final result of encoder-decoder architecture:</a:t>
            </a:r>
          </a:p>
        </p:txBody>
      </p:sp>
      <p:sp>
        <p:nvSpPr>
          <p:cNvPr id="11" name="TextBox 11"/>
          <p:cNvSpPr txBox="1"/>
          <p:nvPr/>
        </p:nvSpPr>
        <p:spPr>
          <a:xfrm>
            <a:off x="5735955" y="8956040"/>
            <a:ext cx="3675380" cy="430530"/>
          </a:xfrm>
          <a:prstGeom prst="rect">
            <a:avLst/>
          </a:prstGeom>
        </p:spPr>
        <p:txBody>
          <a:bodyPr wrap="square" lIns="0" tIns="0" rIns="0" bIns="0" rtlCol="0" anchor="t">
            <a:spAutoFit/>
          </a:bodyPr>
          <a:lstStyle/>
          <a:p>
            <a:pPr algn="l">
              <a:lnSpc>
                <a:spcPts val="3360"/>
              </a:lnSpc>
              <a:spcBef>
                <a:spcPct val="0"/>
              </a:spcBef>
            </a:pPr>
            <a:r>
              <a:rPr lang="en-US" sz="2400" b="1" dirty="0">
                <a:solidFill>
                  <a:srgbClr val="FFFFFF"/>
                </a:solidFill>
                <a:latin typeface="Lora Bold" panose="00000800000000000000"/>
                <a:ea typeface="Lora Bold" panose="00000800000000000000"/>
                <a:cs typeface="Lora Bold" panose="00000800000000000000"/>
                <a:sym typeface="Lora Bold" panose="00000800000000000000"/>
              </a:rPr>
              <a:t>Fig 3: Final result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15</a:t>
            </a:r>
          </a:p>
        </p:txBody>
      </p:sp>
      <p:sp>
        <p:nvSpPr>
          <p:cNvPr id="8" name="TextBox 8"/>
          <p:cNvSpPr txBox="1"/>
          <p:nvPr/>
        </p:nvSpPr>
        <p:spPr>
          <a:xfrm>
            <a:off x="694415" y="2580608"/>
            <a:ext cx="16899169" cy="4586772"/>
          </a:xfrm>
          <a:prstGeom prst="rect">
            <a:avLst/>
          </a:prstGeom>
        </p:spPr>
        <p:txBody>
          <a:bodyPr lIns="0" tIns="0" rIns="0" bIns="0" rtlCol="0" anchor="t">
            <a:spAutoFit/>
          </a:bodyPr>
          <a:lstStyle/>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A loss function was computed to compute the loss between real and predicted captions. The loss has been computed word to word so word-level accuracy is checked for all the first five images. Besides, word-level accuracy we have also evaluated different types of performance metrics which includes,</a:t>
            </a:r>
          </a:p>
          <a:p>
            <a:pPr marL="518160" lvl="1" indent="-259080" algn="l">
              <a:lnSpc>
                <a:spcPts val="3360"/>
              </a:lnSpc>
              <a:buFont typeface="Arial" panose="020B0604020202020204"/>
              <a:buChar char="•"/>
            </a:pPr>
            <a:r>
              <a:rPr lang="en-US" sz="2400">
                <a:solidFill>
                  <a:srgbClr val="FFFFFF"/>
                </a:solidFill>
                <a:latin typeface="Lora" panose="00000500000000000000"/>
                <a:ea typeface="Lora" panose="00000500000000000000"/>
                <a:cs typeface="Lora" panose="00000500000000000000"/>
                <a:sym typeface="Lora" panose="00000500000000000000"/>
              </a:rPr>
              <a:t>BLEU-1, BLEU-2, BLEU-3, BLEU-4 which measures the overlap of generated and reference caption word sequences.</a:t>
            </a:r>
          </a:p>
          <a:p>
            <a:pPr marL="518160" lvl="1" indent="-259080" algn="l">
              <a:lnSpc>
                <a:spcPts val="3360"/>
              </a:lnSpc>
              <a:buFont typeface="Arial" panose="020B0604020202020204"/>
              <a:buChar char="•"/>
            </a:pPr>
            <a:r>
              <a:rPr lang="en-US" sz="2400">
                <a:solidFill>
                  <a:srgbClr val="FFFFFF"/>
                </a:solidFill>
                <a:latin typeface="Lora" panose="00000500000000000000"/>
                <a:ea typeface="Lora" panose="00000500000000000000"/>
                <a:cs typeface="Lora" panose="00000500000000000000"/>
                <a:sym typeface="Lora" panose="00000500000000000000"/>
              </a:rPr>
              <a:t>METEOR which evaluates caption similarity using word matching and related linguistic information.</a:t>
            </a:r>
          </a:p>
          <a:p>
            <a:pPr marL="518160" lvl="1" indent="-259080" algn="l">
              <a:lnSpc>
                <a:spcPts val="3360"/>
              </a:lnSpc>
              <a:buFont typeface="Arial" panose="020B0604020202020204"/>
              <a:buChar char="•"/>
            </a:pPr>
            <a:r>
              <a:rPr lang="en-US" sz="2400">
                <a:solidFill>
                  <a:srgbClr val="FFFFFF"/>
                </a:solidFill>
                <a:latin typeface="Lora" panose="00000500000000000000"/>
                <a:ea typeface="Lora" panose="00000500000000000000"/>
                <a:cs typeface="Lora" panose="00000500000000000000"/>
                <a:sym typeface="Lora" panose="00000500000000000000"/>
              </a:rPr>
              <a:t>ROUGE-L which measures similarity based on longest common word sequence.</a:t>
            </a:r>
          </a:p>
          <a:p>
            <a:pPr marL="518160" lvl="1" indent="-259080" algn="l">
              <a:lnSpc>
                <a:spcPts val="3360"/>
              </a:lnSpc>
              <a:buFont typeface="Arial" panose="020B0604020202020204"/>
              <a:buChar char="•"/>
            </a:pPr>
            <a:r>
              <a:rPr lang="en-US" sz="2400">
                <a:solidFill>
                  <a:srgbClr val="FFFFFF"/>
                </a:solidFill>
                <a:latin typeface="Lora" panose="00000500000000000000"/>
                <a:ea typeface="Lora" panose="00000500000000000000"/>
                <a:cs typeface="Lora" panose="00000500000000000000"/>
                <a:sym typeface="Lora" panose="00000500000000000000"/>
              </a:rPr>
              <a:t>Word-level Accuracy which measures normalized word-level similarity.</a:t>
            </a:r>
          </a:p>
          <a:p>
            <a:pPr marL="518160" lvl="1" indent="-259080" algn="l">
              <a:lnSpc>
                <a:spcPts val="3360"/>
              </a:lnSpc>
              <a:buFont typeface="Arial" panose="020B0604020202020204"/>
              <a:buChar char="•"/>
            </a:pPr>
            <a:r>
              <a:rPr lang="en-US" sz="2400">
                <a:solidFill>
                  <a:srgbClr val="FFFFFF"/>
                </a:solidFill>
                <a:latin typeface="Lora" panose="00000500000000000000"/>
                <a:ea typeface="Lora" panose="00000500000000000000"/>
                <a:cs typeface="Lora" panose="00000500000000000000"/>
                <a:sym typeface="Lora" panose="00000500000000000000"/>
              </a:rPr>
              <a:t>Exact Match Accuracy which measures proportion of generated caption that exactly match the reference caption.</a:t>
            </a:r>
          </a:p>
          <a:p>
            <a:pPr marL="518160" lvl="1" indent="-259080" algn="l">
              <a:lnSpc>
                <a:spcPts val="3360"/>
              </a:lnSpc>
              <a:buFont typeface="Arial" panose="020B0604020202020204"/>
              <a:buChar char="•"/>
            </a:pPr>
            <a:r>
              <a:rPr lang="en-US" sz="2400">
                <a:solidFill>
                  <a:srgbClr val="FFFFFF"/>
                </a:solidFill>
                <a:latin typeface="Lora" panose="00000500000000000000"/>
                <a:ea typeface="Lora" panose="00000500000000000000"/>
                <a:cs typeface="Lora" panose="00000500000000000000"/>
                <a:sym typeface="Lora" panose="00000500000000000000"/>
              </a:rPr>
              <a:t>Precision, Recall and F1-score which measures word-overlap performance between generated and reference captions.</a:t>
            </a:r>
          </a:p>
          <a:p>
            <a:pPr algn="l">
              <a:lnSpc>
                <a:spcPts val="3360"/>
              </a:lnSpc>
              <a:spcBef>
                <a:spcPct val="0"/>
              </a:spcBef>
            </a:pPr>
            <a:endParaRPr lang="en-US" sz="2400">
              <a:solidFill>
                <a:srgbClr val="FFFFFF"/>
              </a:solidFill>
              <a:latin typeface="Lora" panose="00000500000000000000"/>
              <a:ea typeface="Lora" panose="00000500000000000000"/>
              <a:cs typeface="Lora" panose="00000500000000000000"/>
              <a:sym typeface="Lora" panose="0000050000000000000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1175652" y="535831"/>
            <a:ext cx="4771694" cy="4091919"/>
          </a:xfrm>
          <a:custGeom>
            <a:avLst/>
            <a:gdLst/>
            <a:ahLst/>
            <a:cxnLst/>
            <a:rect l="l" t="t" r="r" b="b"/>
            <a:pathLst>
              <a:path w="4771694" h="4091919">
                <a:moveTo>
                  <a:pt x="0" y="0"/>
                </a:moveTo>
                <a:lnTo>
                  <a:pt x="4771694" y="0"/>
                </a:lnTo>
                <a:lnTo>
                  <a:pt x="4771694" y="4091919"/>
                </a:lnTo>
                <a:lnTo>
                  <a:pt x="0" y="4091919"/>
                </a:lnTo>
                <a:lnTo>
                  <a:pt x="0" y="0"/>
                </a:lnTo>
                <a:close/>
              </a:path>
            </a:pathLst>
          </a:custGeom>
          <a:blipFill>
            <a:blip r:embed="rId4"/>
            <a:stretch>
              <a:fillRect r="-5503"/>
            </a:stretch>
          </a:blipFill>
        </p:spPr>
      </p:sp>
      <p:sp>
        <p:nvSpPr>
          <p:cNvPr id="8" name="Freeform 8"/>
          <p:cNvSpPr/>
          <p:nvPr/>
        </p:nvSpPr>
        <p:spPr>
          <a:xfrm>
            <a:off x="1175652" y="4627750"/>
            <a:ext cx="12987035" cy="3426547"/>
          </a:xfrm>
          <a:custGeom>
            <a:avLst/>
            <a:gdLst/>
            <a:ahLst/>
            <a:cxnLst/>
            <a:rect l="l" t="t" r="r" b="b"/>
            <a:pathLst>
              <a:path w="12987035" h="3426547">
                <a:moveTo>
                  <a:pt x="0" y="0"/>
                </a:moveTo>
                <a:lnTo>
                  <a:pt x="12987036" y="0"/>
                </a:lnTo>
                <a:lnTo>
                  <a:pt x="12987036" y="3426547"/>
                </a:lnTo>
                <a:lnTo>
                  <a:pt x="0" y="3426547"/>
                </a:lnTo>
                <a:lnTo>
                  <a:pt x="0" y="0"/>
                </a:lnTo>
                <a:close/>
              </a:path>
            </a:pathLst>
          </a:custGeom>
          <a:blipFill>
            <a:blip r:embed="rId5"/>
            <a:stretch>
              <a:fillRect/>
            </a:stretch>
          </a:blipFill>
        </p:spPr>
      </p:sp>
      <p:sp>
        <p:nvSpPr>
          <p:cNvPr id="9" name="TextBox 9"/>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16</a:t>
            </a:r>
          </a:p>
        </p:txBody>
      </p:sp>
      <p:sp>
        <p:nvSpPr>
          <p:cNvPr id="10" name="TextBox 10"/>
          <p:cNvSpPr txBox="1"/>
          <p:nvPr/>
        </p:nvSpPr>
        <p:spPr>
          <a:xfrm>
            <a:off x="1175652" y="8382244"/>
            <a:ext cx="5034301" cy="396197"/>
          </a:xfrm>
          <a:prstGeom prst="rect">
            <a:avLst/>
          </a:prstGeom>
        </p:spPr>
        <p:txBody>
          <a:bodyPr lIns="0" tIns="0" rIns="0" bIns="0" rtlCol="0" anchor="t">
            <a:spAutoFit/>
          </a:bodyPr>
          <a:lstStyle/>
          <a:p>
            <a:pPr algn="l">
              <a:lnSpc>
                <a:spcPts val="3360"/>
              </a:lnSpc>
              <a:spcBef>
                <a:spcPct val="0"/>
              </a:spcBef>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Fig 4: Bleu Score Assessment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6537679" y="1190885"/>
            <a:ext cx="11111270" cy="2684553"/>
          </a:xfrm>
          <a:custGeom>
            <a:avLst/>
            <a:gdLst/>
            <a:ahLst/>
            <a:cxnLst/>
            <a:rect l="l" t="t" r="r" b="b"/>
            <a:pathLst>
              <a:path w="11111270" h="2684553">
                <a:moveTo>
                  <a:pt x="0" y="0"/>
                </a:moveTo>
                <a:lnTo>
                  <a:pt x="11111270" y="0"/>
                </a:lnTo>
                <a:lnTo>
                  <a:pt x="11111270" y="2684554"/>
                </a:lnTo>
                <a:lnTo>
                  <a:pt x="0" y="2684554"/>
                </a:lnTo>
                <a:lnTo>
                  <a:pt x="0" y="0"/>
                </a:lnTo>
                <a:close/>
              </a:path>
            </a:pathLst>
          </a:custGeom>
          <a:blipFill>
            <a:blip r:embed="rId4"/>
            <a:stretch>
              <a:fillRect l="-1035" r="-1035"/>
            </a:stretch>
          </a:blipFill>
        </p:spPr>
      </p:sp>
      <p:sp>
        <p:nvSpPr>
          <p:cNvPr id="8" name="Freeform 8"/>
          <p:cNvSpPr/>
          <p:nvPr/>
        </p:nvSpPr>
        <p:spPr>
          <a:xfrm>
            <a:off x="1205201" y="1190885"/>
            <a:ext cx="4398169" cy="2855646"/>
          </a:xfrm>
          <a:custGeom>
            <a:avLst/>
            <a:gdLst/>
            <a:ahLst/>
            <a:cxnLst/>
            <a:rect l="l" t="t" r="r" b="b"/>
            <a:pathLst>
              <a:path w="4398169" h="2855646">
                <a:moveTo>
                  <a:pt x="0" y="0"/>
                </a:moveTo>
                <a:lnTo>
                  <a:pt x="4398169" y="0"/>
                </a:lnTo>
                <a:lnTo>
                  <a:pt x="4398169" y="2855646"/>
                </a:lnTo>
                <a:lnTo>
                  <a:pt x="0" y="2855646"/>
                </a:lnTo>
                <a:lnTo>
                  <a:pt x="0" y="0"/>
                </a:lnTo>
                <a:close/>
              </a:path>
            </a:pathLst>
          </a:custGeom>
          <a:blipFill>
            <a:blip r:embed="rId5"/>
            <a:stretch>
              <a:fillRect/>
            </a:stretch>
          </a:blipFill>
        </p:spPr>
      </p:sp>
      <p:sp>
        <p:nvSpPr>
          <p:cNvPr id="9" name="Freeform 9"/>
          <p:cNvSpPr/>
          <p:nvPr/>
        </p:nvSpPr>
        <p:spPr>
          <a:xfrm>
            <a:off x="1205201" y="4909483"/>
            <a:ext cx="4398169" cy="3789020"/>
          </a:xfrm>
          <a:custGeom>
            <a:avLst/>
            <a:gdLst/>
            <a:ahLst/>
            <a:cxnLst/>
            <a:rect l="l" t="t" r="r" b="b"/>
            <a:pathLst>
              <a:path w="4398169" h="3789020">
                <a:moveTo>
                  <a:pt x="0" y="0"/>
                </a:moveTo>
                <a:lnTo>
                  <a:pt x="4398169" y="0"/>
                </a:lnTo>
                <a:lnTo>
                  <a:pt x="4398169" y="3789020"/>
                </a:lnTo>
                <a:lnTo>
                  <a:pt x="0" y="3789020"/>
                </a:lnTo>
                <a:lnTo>
                  <a:pt x="0" y="0"/>
                </a:lnTo>
                <a:close/>
              </a:path>
            </a:pathLst>
          </a:custGeom>
          <a:blipFill>
            <a:blip r:embed="rId6"/>
            <a:stretch>
              <a:fillRect/>
            </a:stretch>
          </a:blipFill>
        </p:spPr>
      </p:sp>
      <p:sp>
        <p:nvSpPr>
          <p:cNvPr id="10" name="Freeform 10"/>
          <p:cNvSpPr/>
          <p:nvPr/>
        </p:nvSpPr>
        <p:spPr>
          <a:xfrm>
            <a:off x="6598741" y="4909483"/>
            <a:ext cx="11050208" cy="3789020"/>
          </a:xfrm>
          <a:custGeom>
            <a:avLst/>
            <a:gdLst/>
            <a:ahLst/>
            <a:cxnLst/>
            <a:rect l="l" t="t" r="r" b="b"/>
            <a:pathLst>
              <a:path w="11050208" h="3789020">
                <a:moveTo>
                  <a:pt x="0" y="0"/>
                </a:moveTo>
                <a:lnTo>
                  <a:pt x="11050208" y="0"/>
                </a:lnTo>
                <a:lnTo>
                  <a:pt x="11050208" y="3789020"/>
                </a:lnTo>
                <a:lnTo>
                  <a:pt x="0" y="3789020"/>
                </a:lnTo>
                <a:lnTo>
                  <a:pt x="0" y="0"/>
                </a:lnTo>
                <a:close/>
              </a:path>
            </a:pathLst>
          </a:custGeom>
          <a:blipFill>
            <a:blip r:embed="rId7"/>
            <a:stretch>
              <a:fillRect/>
            </a:stretch>
          </a:blipFill>
        </p:spPr>
      </p:sp>
      <p:sp>
        <p:nvSpPr>
          <p:cNvPr id="11" name="Freeform 11"/>
          <p:cNvSpPr/>
          <p:nvPr/>
        </p:nvSpPr>
        <p:spPr>
          <a:xfrm>
            <a:off x="5822725" y="2618708"/>
            <a:ext cx="495600" cy="330400"/>
          </a:xfrm>
          <a:custGeom>
            <a:avLst/>
            <a:gdLst/>
            <a:ahLst/>
            <a:cxnLst/>
            <a:rect l="l" t="t" r="r" b="b"/>
            <a:pathLst>
              <a:path w="495600" h="330400">
                <a:moveTo>
                  <a:pt x="0" y="0"/>
                </a:moveTo>
                <a:lnTo>
                  <a:pt x="495600" y="0"/>
                </a:lnTo>
                <a:lnTo>
                  <a:pt x="495600" y="330400"/>
                </a:lnTo>
                <a:lnTo>
                  <a:pt x="0" y="330400"/>
                </a:lnTo>
                <a:lnTo>
                  <a:pt x="0" y="0"/>
                </a:lnTo>
                <a:close/>
              </a:path>
            </a:pathLst>
          </a:custGeom>
          <a:blipFill>
            <a:blip r:embed="rId8"/>
            <a:stretch>
              <a:fillRect/>
            </a:stretch>
          </a:blipFill>
        </p:spPr>
      </p:sp>
      <p:sp>
        <p:nvSpPr>
          <p:cNvPr id="12" name="TextBox 12"/>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17</a:t>
            </a:r>
          </a:p>
        </p:txBody>
      </p:sp>
      <p:sp>
        <p:nvSpPr>
          <p:cNvPr id="13" name="TextBox 13"/>
          <p:cNvSpPr txBox="1"/>
          <p:nvPr/>
        </p:nvSpPr>
        <p:spPr>
          <a:xfrm>
            <a:off x="459631" y="214298"/>
            <a:ext cx="17828369" cy="1471866"/>
          </a:xfrm>
          <a:prstGeom prst="rect">
            <a:avLst/>
          </a:prstGeom>
        </p:spPr>
        <p:txBody>
          <a:bodyPr lIns="0" tIns="0" rIns="0" bIns="0" rtlCol="0" anchor="t">
            <a:spAutoFit/>
          </a:bodyPr>
          <a:lstStyle/>
          <a:p>
            <a:pPr algn="l">
              <a:lnSpc>
                <a:spcPts val="3920"/>
              </a:lnSpc>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               Input Images                                                                     Result/Outcome</a:t>
            </a:r>
          </a:p>
          <a:p>
            <a:pPr algn="l">
              <a:lnSpc>
                <a:spcPts val="3920"/>
              </a:lnSpc>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                                                                                           (Generated captions, precision, recall and f1-score)</a:t>
            </a:r>
          </a:p>
          <a:p>
            <a:pPr algn="l">
              <a:lnSpc>
                <a:spcPts val="3920"/>
              </a:lnSpc>
              <a:spcBef>
                <a:spcPct val="0"/>
              </a:spcBef>
            </a:pPr>
            <a:endParaRPr lang="en-US" sz="2800" b="1">
              <a:solidFill>
                <a:srgbClr val="FFFFFF"/>
              </a:solidFill>
              <a:latin typeface="Lora Bold" panose="00000800000000000000"/>
              <a:ea typeface="Lora Bold" panose="00000800000000000000"/>
              <a:cs typeface="Lora Bold" panose="00000800000000000000"/>
              <a:sym typeface="Lora Bold" panose="00000800000000000000"/>
            </a:endParaRPr>
          </a:p>
        </p:txBody>
      </p:sp>
      <p:sp>
        <p:nvSpPr>
          <p:cNvPr id="14" name="TextBox 14"/>
          <p:cNvSpPr txBox="1"/>
          <p:nvPr/>
        </p:nvSpPr>
        <p:spPr>
          <a:xfrm>
            <a:off x="476430" y="1425896"/>
            <a:ext cx="556211" cy="406073"/>
          </a:xfrm>
          <a:prstGeom prst="rect">
            <a:avLst/>
          </a:prstGeom>
        </p:spPr>
        <p:txBody>
          <a:bodyPr wrap="square" lIns="0" tIns="0" rIns="0" bIns="0" rtlCol="0" anchor="t">
            <a:spAutoFit/>
          </a:bodyPr>
          <a:lstStyle/>
          <a:p>
            <a:pPr algn="ctr">
              <a:lnSpc>
                <a:spcPts val="3360"/>
              </a:lnSpc>
              <a:spcBef>
                <a:spcPct val="0"/>
              </a:spcBef>
            </a:pPr>
            <a:r>
              <a:rPr lang="en-US" sz="2400" b="1" dirty="0">
                <a:solidFill>
                  <a:srgbClr val="FFFFFF"/>
                </a:solidFill>
                <a:latin typeface="Lora Bold" panose="00000800000000000000"/>
                <a:ea typeface="Lora Bold" panose="00000800000000000000"/>
                <a:cs typeface="Lora Bold" panose="00000800000000000000"/>
                <a:sym typeface="Lora Bold" panose="00000800000000000000"/>
              </a:rPr>
              <a:t>1.</a:t>
            </a:r>
          </a:p>
        </p:txBody>
      </p:sp>
      <p:sp>
        <p:nvSpPr>
          <p:cNvPr id="15" name="TextBox 15"/>
          <p:cNvSpPr txBox="1"/>
          <p:nvPr/>
        </p:nvSpPr>
        <p:spPr>
          <a:xfrm>
            <a:off x="2271395" y="4120515"/>
            <a:ext cx="1429385" cy="364490"/>
          </a:xfrm>
          <a:prstGeom prst="rect">
            <a:avLst/>
          </a:prstGeom>
        </p:spPr>
        <p:txBody>
          <a:bodyPr lIns="0" tIns="0" rIns="0" bIns="0" rtlCol="0" anchor="t">
            <a:noAutofit/>
          </a:bodyPr>
          <a:lstStyle/>
          <a:p>
            <a:pPr algn="ctr">
              <a:lnSpc>
                <a:spcPts val="2940"/>
              </a:lnSpc>
              <a:spcBef>
                <a:spcPct val="0"/>
              </a:spcBef>
            </a:pPr>
            <a:r>
              <a:rPr lang="en-US" sz="2400" b="1" dirty="0">
                <a:solidFill>
                  <a:srgbClr val="FFFFFF"/>
                </a:solidFill>
                <a:latin typeface="Lora Bold" panose="00000800000000000000"/>
                <a:ea typeface="Lora Bold" panose="00000800000000000000"/>
                <a:cs typeface="Lora Bold" panose="00000800000000000000"/>
                <a:sym typeface="Lora Bold" panose="00000800000000000000"/>
              </a:rPr>
              <a:t>Fig 5</a:t>
            </a:r>
          </a:p>
        </p:txBody>
      </p:sp>
      <p:sp>
        <p:nvSpPr>
          <p:cNvPr id="16" name="TextBox 16"/>
          <p:cNvSpPr txBox="1"/>
          <p:nvPr/>
        </p:nvSpPr>
        <p:spPr>
          <a:xfrm>
            <a:off x="595518" y="5085397"/>
            <a:ext cx="233554" cy="396197"/>
          </a:xfrm>
          <a:prstGeom prst="rect">
            <a:avLst/>
          </a:prstGeom>
        </p:spPr>
        <p:txBody>
          <a:bodyPr lIns="0" tIns="0" rIns="0" bIns="0" rtlCol="0" anchor="t">
            <a:spAutoFit/>
          </a:bodyPr>
          <a:lstStyle/>
          <a:p>
            <a:pPr algn="ctr">
              <a:lnSpc>
                <a:spcPts val="3360"/>
              </a:lnSpc>
              <a:spcBef>
                <a:spcPct val="0"/>
              </a:spcBef>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2.</a:t>
            </a:r>
          </a:p>
        </p:txBody>
      </p:sp>
      <p:sp>
        <p:nvSpPr>
          <p:cNvPr id="17" name="TextBox 17"/>
          <p:cNvSpPr txBox="1"/>
          <p:nvPr/>
        </p:nvSpPr>
        <p:spPr>
          <a:xfrm>
            <a:off x="2271395" y="8733155"/>
            <a:ext cx="1920875" cy="788670"/>
          </a:xfrm>
          <a:prstGeom prst="rect">
            <a:avLst/>
          </a:prstGeom>
        </p:spPr>
        <p:txBody>
          <a:bodyPr lIns="0" tIns="0" rIns="0" bIns="0" rtlCol="0" anchor="t">
            <a:noAutofit/>
          </a:bodyPr>
          <a:lstStyle/>
          <a:p>
            <a:pPr algn="ctr">
              <a:lnSpc>
                <a:spcPts val="3360"/>
              </a:lnSpc>
              <a:spcBef>
                <a:spcPct val="0"/>
              </a:spcBef>
            </a:pPr>
            <a:r>
              <a:rPr lang="en-US" sz="2400" b="1" dirty="0">
                <a:solidFill>
                  <a:srgbClr val="FFFFFF"/>
                </a:solidFill>
                <a:latin typeface="Lora Bold" panose="00000800000000000000"/>
                <a:ea typeface="Lora Bold" panose="00000800000000000000"/>
                <a:cs typeface="Lora Bold" panose="00000800000000000000"/>
                <a:sym typeface="Lora Bold" panose="00000800000000000000"/>
              </a:rPr>
              <a:t>Fig 6</a:t>
            </a:r>
          </a:p>
        </p:txBody>
      </p:sp>
      <p:sp>
        <p:nvSpPr>
          <p:cNvPr id="18" name="Freeform 18"/>
          <p:cNvSpPr/>
          <p:nvPr/>
        </p:nvSpPr>
        <p:spPr>
          <a:xfrm>
            <a:off x="5853256" y="6638793"/>
            <a:ext cx="495600" cy="330400"/>
          </a:xfrm>
          <a:custGeom>
            <a:avLst/>
            <a:gdLst/>
            <a:ahLst/>
            <a:cxnLst/>
            <a:rect l="l" t="t" r="r" b="b"/>
            <a:pathLst>
              <a:path w="495600" h="330400">
                <a:moveTo>
                  <a:pt x="0" y="0"/>
                </a:moveTo>
                <a:lnTo>
                  <a:pt x="495600" y="0"/>
                </a:lnTo>
                <a:lnTo>
                  <a:pt x="495600" y="330400"/>
                </a:lnTo>
                <a:lnTo>
                  <a:pt x="0" y="330400"/>
                </a:lnTo>
                <a:lnTo>
                  <a:pt x="0" y="0"/>
                </a:lnTo>
                <a:close/>
              </a:path>
            </a:pathLst>
          </a:custGeom>
          <a:blipFill>
            <a:blip r:embed="rId8"/>
            <a:stretch>
              <a:fillRect/>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409147"/>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1028700" y="233096"/>
            <a:ext cx="3296205" cy="4382164"/>
          </a:xfrm>
          <a:custGeom>
            <a:avLst/>
            <a:gdLst/>
            <a:ahLst/>
            <a:cxnLst/>
            <a:rect l="l" t="t" r="r" b="b"/>
            <a:pathLst>
              <a:path w="3296205" h="4382164">
                <a:moveTo>
                  <a:pt x="0" y="0"/>
                </a:moveTo>
                <a:lnTo>
                  <a:pt x="3296205" y="0"/>
                </a:lnTo>
                <a:lnTo>
                  <a:pt x="3296205" y="4382164"/>
                </a:lnTo>
                <a:lnTo>
                  <a:pt x="0" y="4382164"/>
                </a:lnTo>
                <a:lnTo>
                  <a:pt x="0" y="0"/>
                </a:lnTo>
                <a:close/>
              </a:path>
            </a:pathLst>
          </a:custGeom>
          <a:blipFill>
            <a:blip r:embed="rId4"/>
            <a:stretch>
              <a:fillRect/>
            </a:stretch>
          </a:blipFill>
        </p:spPr>
      </p:sp>
      <p:sp>
        <p:nvSpPr>
          <p:cNvPr id="8" name="Freeform 8"/>
          <p:cNvSpPr/>
          <p:nvPr/>
        </p:nvSpPr>
        <p:spPr>
          <a:xfrm>
            <a:off x="6062026" y="656056"/>
            <a:ext cx="12123640" cy="3006044"/>
          </a:xfrm>
          <a:custGeom>
            <a:avLst/>
            <a:gdLst/>
            <a:ahLst/>
            <a:cxnLst/>
            <a:rect l="l" t="t" r="r" b="b"/>
            <a:pathLst>
              <a:path w="12123640" h="3006044">
                <a:moveTo>
                  <a:pt x="0" y="0"/>
                </a:moveTo>
                <a:lnTo>
                  <a:pt x="12123639" y="0"/>
                </a:lnTo>
                <a:lnTo>
                  <a:pt x="12123639" y="3006044"/>
                </a:lnTo>
                <a:lnTo>
                  <a:pt x="0" y="3006044"/>
                </a:lnTo>
                <a:lnTo>
                  <a:pt x="0" y="0"/>
                </a:lnTo>
                <a:close/>
              </a:path>
            </a:pathLst>
          </a:custGeom>
          <a:blipFill>
            <a:blip r:embed="rId5"/>
            <a:stretch>
              <a:fillRect/>
            </a:stretch>
          </a:blipFill>
        </p:spPr>
      </p:sp>
      <p:sp>
        <p:nvSpPr>
          <p:cNvPr id="9" name="Freeform 9"/>
          <p:cNvSpPr/>
          <p:nvPr/>
        </p:nvSpPr>
        <p:spPr>
          <a:xfrm>
            <a:off x="1028700" y="5143500"/>
            <a:ext cx="4780795" cy="3763384"/>
          </a:xfrm>
          <a:custGeom>
            <a:avLst/>
            <a:gdLst/>
            <a:ahLst/>
            <a:cxnLst/>
            <a:rect l="l" t="t" r="r" b="b"/>
            <a:pathLst>
              <a:path w="4780795" h="3763384">
                <a:moveTo>
                  <a:pt x="0" y="0"/>
                </a:moveTo>
                <a:lnTo>
                  <a:pt x="4780795" y="0"/>
                </a:lnTo>
                <a:lnTo>
                  <a:pt x="4780795" y="3763384"/>
                </a:lnTo>
                <a:lnTo>
                  <a:pt x="0" y="3763384"/>
                </a:lnTo>
                <a:lnTo>
                  <a:pt x="0" y="0"/>
                </a:lnTo>
                <a:close/>
              </a:path>
            </a:pathLst>
          </a:custGeom>
          <a:blipFill>
            <a:blip r:embed="rId6"/>
            <a:stretch>
              <a:fillRect/>
            </a:stretch>
          </a:blipFill>
        </p:spPr>
      </p:sp>
      <p:sp>
        <p:nvSpPr>
          <p:cNvPr id="10" name="Freeform 10"/>
          <p:cNvSpPr/>
          <p:nvPr/>
        </p:nvSpPr>
        <p:spPr>
          <a:xfrm>
            <a:off x="6434334" y="5120172"/>
            <a:ext cx="11379023" cy="3765422"/>
          </a:xfrm>
          <a:custGeom>
            <a:avLst/>
            <a:gdLst/>
            <a:ahLst/>
            <a:cxnLst/>
            <a:rect l="l" t="t" r="r" b="b"/>
            <a:pathLst>
              <a:path w="11379023" h="3765422">
                <a:moveTo>
                  <a:pt x="0" y="0"/>
                </a:moveTo>
                <a:lnTo>
                  <a:pt x="11379023" y="0"/>
                </a:lnTo>
                <a:lnTo>
                  <a:pt x="11379023" y="3765422"/>
                </a:lnTo>
                <a:lnTo>
                  <a:pt x="0" y="3765422"/>
                </a:lnTo>
                <a:lnTo>
                  <a:pt x="0" y="0"/>
                </a:lnTo>
                <a:close/>
              </a:path>
            </a:pathLst>
          </a:custGeom>
          <a:blipFill>
            <a:blip r:embed="rId7"/>
            <a:stretch>
              <a:fillRect/>
            </a:stretch>
          </a:blipFill>
        </p:spPr>
      </p:sp>
      <p:sp>
        <p:nvSpPr>
          <p:cNvPr id="11" name="Freeform 11"/>
          <p:cNvSpPr/>
          <p:nvPr/>
        </p:nvSpPr>
        <p:spPr>
          <a:xfrm>
            <a:off x="11719494" y="8963419"/>
            <a:ext cx="495600" cy="330400"/>
          </a:xfrm>
          <a:custGeom>
            <a:avLst/>
            <a:gdLst/>
            <a:ahLst/>
            <a:cxnLst/>
            <a:rect l="l" t="t" r="r" b="b"/>
            <a:pathLst>
              <a:path w="495600" h="330400">
                <a:moveTo>
                  <a:pt x="0" y="0"/>
                </a:moveTo>
                <a:lnTo>
                  <a:pt x="495600" y="0"/>
                </a:lnTo>
                <a:lnTo>
                  <a:pt x="495600" y="330400"/>
                </a:lnTo>
                <a:lnTo>
                  <a:pt x="0" y="330400"/>
                </a:lnTo>
                <a:lnTo>
                  <a:pt x="0" y="0"/>
                </a:lnTo>
                <a:close/>
              </a:path>
            </a:pathLst>
          </a:custGeom>
          <a:blipFill>
            <a:blip r:embed="rId8"/>
            <a:stretch>
              <a:fillRect/>
            </a:stretch>
          </a:blipFill>
        </p:spPr>
      </p:sp>
      <p:sp>
        <p:nvSpPr>
          <p:cNvPr id="12" name="TextBox 12"/>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18</a:t>
            </a:r>
          </a:p>
        </p:txBody>
      </p:sp>
      <p:sp>
        <p:nvSpPr>
          <p:cNvPr id="13" name="TextBox 13"/>
          <p:cNvSpPr txBox="1"/>
          <p:nvPr/>
        </p:nvSpPr>
        <p:spPr>
          <a:xfrm>
            <a:off x="179601" y="444030"/>
            <a:ext cx="919261" cy="406073"/>
          </a:xfrm>
          <a:prstGeom prst="rect">
            <a:avLst/>
          </a:prstGeom>
        </p:spPr>
        <p:txBody>
          <a:bodyPr wrap="square" lIns="0" tIns="0" rIns="0" bIns="0" rtlCol="0" anchor="t">
            <a:spAutoFit/>
          </a:bodyPr>
          <a:lstStyle/>
          <a:p>
            <a:pPr algn="ctr">
              <a:lnSpc>
                <a:spcPts val="3360"/>
              </a:lnSpc>
              <a:spcBef>
                <a:spcPct val="0"/>
              </a:spcBef>
            </a:pPr>
            <a:r>
              <a:rPr lang="en-US" sz="2400" b="1" dirty="0">
                <a:solidFill>
                  <a:srgbClr val="FFFFFF"/>
                </a:solidFill>
                <a:latin typeface="Lora Bold" panose="00000800000000000000"/>
                <a:ea typeface="Lora Bold" panose="00000800000000000000"/>
                <a:cs typeface="Lora Bold" panose="00000800000000000000"/>
                <a:sym typeface="Lora Bold" panose="00000800000000000000"/>
              </a:rPr>
              <a:t>3.</a:t>
            </a:r>
          </a:p>
        </p:txBody>
      </p:sp>
      <p:sp>
        <p:nvSpPr>
          <p:cNvPr id="14" name="TextBox 14"/>
          <p:cNvSpPr txBox="1"/>
          <p:nvPr/>
        </p:nvSpPr>
        <p:spPr>
          <a:xfrm>
            <a:off x="320226" y="5219700"/>
            <a:ext cx="638009" cy="406073"/>
          </a:xfrm>
          <a:prstGeom prst="rect">
            <a:avLst/>
          </a:prstGeom>
        </p:spPr>
        <p:txBody>
          <a:bodyPr wrap="square" lIns="0" tIns="0" rIns="0" bIns="0" rtlCol="0" anchor="t">
            <a:spAutoFit/>
          </a:bodyPr>
          <a:lstStyle/>
          <a:p>
            <a:pPr algn="ctr">
              <a:lnSpc>
                <a:spcPts val="3360"/>
              </a:lnSpc>
              <a:spcBef>
                <a:spcPct val="0"/>
              </a:spcBef>
            </a:pPr>
            <a:r>
              <a:rPr lang="en-US" sz="2400" b="1" dirty="0">
                <a:solidFill>
                  <a:srgbClr val="FFFFFF"/>
                </a:solidFill>
                <a:latin typeface="Lora Bold" panose="00000800000000000000"/>
                <a:ea typeface="Lora Bold" panose="00000800000000000000"/>
                <a:cs typeface="Lora Bold" panose="00000800000000000000"/>
                <a:sym typeface="Lora Bold" panose="00000800000000000000"/>
              </a:rPr>
              <a:t>4.</a:t>
            </a:r>
          </a:p>
        </p:txBody>
      </p:sp>
      <p:sp>
        <p:nvSpPr>
          <p:cNvPr id="15" name="TextBox 15"/>
          <p:cNvSpPr txBox="1"/>
          <p:nvPr/>
        </p:nvSpPr>
        <p:spPr>
          <a:xfrm>
            <a:off x="1887855" y="4560570"/>
            <a:ext cx="1073785" cy="345440"/>
          </a:xfrm>
          <a:prstGeom prst="rect">
            <a:avLst/>
          </a:prstGeom>
        </p:spPr>
        <p:txBody>
          <a:bodyPr lIns="0" tIns="0" rIns="0" bIns="0" rtlCol="0" anchor="t">
            <a:noAutofit/>
          </a:bodyPr>
          <a:lstStyle/>
          <a:p>
            <a:pPr algn="ctr">
              <a:lnSpc>
                <a:spcPts val="3360"/>
              </a:lnSpc>
              <a:spcBef>
                <a:spcPct val="0"/>
              </a:spcBef>
            </a:pPr>
            <a:r>
              <a:rPr lang="en-US" sz="2400" b="1" dirty="0">
                <a:solidFill>
                  <a:srgbClr val="FFFFFF"/>
                </a:solidFill>
                <a:latin typeface="Lora Bold" panose="00000800000000000000"/>
                <a:ea typeface="Lora Bold" panose="00000800000000000000"/>
                <a:cs typeface="Lora Bold" panose="00000800000000000000"/>
                <a:sym typeface="Lora Bold" panose="00000800000000000000"/>
              </a:rPr>
              <a:t>Fig 7</a:t>
            </a:r>
          </a:p>
        </p:txBody>
      </p:sp>
      <p:sp>
        <p:nvSpPr>
          <p:cNvPr id="16" name="TextBox 16"/>
          <p:cNvSpPr txBox="1"/>
          <p:nvPr/>
        </p:nvSpPr>
        <p:spPr>
          <a:xfrm>
            <a:off x="1705332" y="8863090"/>
            <a:ext cx="1497244" cy="396197"/>
          </a:xfrm>
          <a:prstGeom prst="rect">
            <a:avLst/>
          </a:prstGeom>
        </p:spPr>
        <p:txBody>
          <a:bodyPr lIns="0" tIns="0" rIns="0" bIns="0" rtlCol="0" anchor="t">
            <a:spAutoFit/>
          </a:bodyPr>
          <a:lstStyle/>
          <a:p>
            <a:pPr algn="ctr">
              <a:lnSpc>
                <a:spcPts val="3360"/>
              </a:lnSpc>
              <a:spcBef>
                <a:spcPct val="0"/>
              </a:spcBef>
            </a:pPr>
            <a:r>
              <a:rPr lang="en-US" sz="2400" b="1" dirty="0">
                <a:solidFill>
                  <a:srgbClr val="FFFFFF"/>
                </a:solidFill>
                <a:latin typeface="Lora Bold" panose="00000800000000000000"/>
                <a:ea typeface="Lora Bold" panose="00000800000000000000"/>
                <a:cs typeface="Lora Bold" panose="00000800000000000000"/>
                <a:sym typeface="Lora Bold" panose="00000800000000000000"/>
              </a:rPr>
              <a:t>Fig 8</a:t>
            </a:r>
          </a:p>
        </p:txBody>
      </p:sp>
      <p:sp>
        <p:nvSpPr>
          <p:cNvPr id="17" name="Freeform 17"/>
          <p:cNvSpPr/>
          <p:nvPr/>
        </p:nvSpPr>
        <p:spPr>
          <a:xfrm>
            <a:off x="5107770" y="2093778"/>
            <a:ext cx="495600" cy="330400"/>
          </a:xfrm>
          <a:custGeom>
            <a:avLst/>
            <a:gdLst/>
            <a:ahLst/>
            <a:cxnLst/>
            <a:rect l="l" t="t" r="r" b="b"/>
            <a:pathLst>
              <a:path w="495600" h="330400">
                <a:moveTo>
                  <a:pt x="0" y="0"/>
                </a:moveTo>
                <a:lnTo>
                  <a:pt x="495600" y="0"/>
                </a:lnTo>
                <a:lnTo>
                  <a:pt x="495600" y="330400"/>
                </a:lnTo>
                <a:lnTo>
                  <a:pt x="0" y="330400"/>
                </a:lnTo>
                <a:lnTo>
                  <a:pt x="0" y="0"/>
                </a:lnTo>
                <a:close/>
              </a:path>
            </a:pathLst>
          </a:custGeom>
          <a:blipFill>
            <a:blip r:embed="rId8"/>
            <a:stretch>
              <a:fillRect/>
            </a:stretch>
          </a:blipFill>
        </p:spPr>
      </p:sp>
      <p:sp>
        <p:nvSpPr>
          <p:cNvPr id="18" name="Freeform 18"/>
          <p:cNvSpPr/>
          <p:nvPr/>
        </p:nvSpPr>
        <p:spPr>
          <a:xfrm>
            <a:off x="5881584" y="6837683"/>
            <a:ext cx="495600" cy="330400"/>
          </a:xfrm>
          <a:custGeom>
            <a:avLst/>
            <a:gdLst/>
            <a:ahLst/>
            <a:cxnLst/>
            <a:rect l="l" t="t" r="r" b="b"/>
            <a:pathLst>
              <a:path w="495600" h="330400">
                <a:moveTo>
                  <a:pt x="0" y="0"/>
                </a:moveTo>
                <a:lnTo>
                  <a:pt x="495600" y="0"/>
                </a:lnTo>
                <a:lnTo>
                  <a:pt x="495600" y="330400"/>
                </a:lnTo>
                <a:lnTo>
                  <a:pt x="0" y="330400"/>
                </a:lnTo>
                <a:lnTo>
                  <a:pt x="0" y="0"/>
                </a:lnTo>
                <a:close/>
              </a:path>
            </a:pathLst>
          </a:custGeom>
          <a:blipFill>
            <a:blip r:embed="rId8"/>
            <a:stretch>
              <a:fillRect/>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1291307" y="456211"/>
            <a:ext cx="3798926" cy="3202100"/>
          </a:xfrm>
          <a:custGeom>
            <a:avLst/>
            <a:gdLst/>
            <a:ahLst/>
            <a:cxnLst/>
            <a:rect l="l" t="t" r="r" b="b"/>
            <a:pathLst>
              <a:path w="3798926" h="3202100">
                <a:moveTo>
                  <a:pt x="0" y="0"/>
                </a:moveTo>
                <a:lnTo>
                  <a:pt x="3798926" y="0"/>
                </a:lnTo>
                <a:lnTo>
                  <a:pt x="3798926" y="3202100"/>
                </a:lnTo>
                <a:lnTo>
                  <a:pt x="0" y="3202100"/>
                </a:lnTo>
                <a:lnTo>
                  <a:pt x="0" y="0"/>
                </a:lnTo>
                <a:close/>
              </a:path>
            </a:pathLst>
          </a:custGeom>
          <a:blipFill>
            <a:blip r:embed="rId4"/>
            <a:stretch>
              <a:fillRect/>
            </a:stretch>
          </a:blipFill>
        </p:spPr>
      </p:sp>
      <p:sp>
        <p:nvSpPr>
          <p:cNvPr id="8" name="Freeform 8"/>
          <p:cNvSpPr/>
          <p:nvPr/>
        </p:nvSpPr>
        <p:spPr>
          <a:xfrm>
            <a:off x="7927096" y="521590"/>
            <a:ext cx="9304695" cy="3071343"/>
          </a:xfrm>
          <a:custGeom>
            <a:avLst/>
            <a:gdLst/>
            <a:ahLst/>
            <a:cxnLst/>
            <a:rect l="l" t="t" r="r" b="b"/>
            <a:pathLst>
              <a:path w="9304695" h="3071343">
                <a:moveTo>
                  <a:pt x="0" y="0"/>
                </a:moveTo>
                <a:lnTo>
                  <a:pt x="9304695" y="0"/>
                </a:lnTo>
                <a:lnTo>
                  <a:pt x="9304695" y="3071343"/>
                </a:lnTo>
                <a:lnTo>
                  <a:pt x="0" y="3071343"/>
                </a:lnTo>
                <a:lnTo>
                  <a:pt x="0" y="0"/>
                </a:lnTo>
                <a:close/>
              </a:path>
            </a:pathLst>
          </a:custGeom>
          <a:blipFill>
            <a:blip r:embed="rId5"/>
            <a:stretch>
              <a:fillRect/>
            </a:stretch>
          </a:blipFill>
        </p:spPr>
      </p:sp>
      <p:sp>
        <p:nvSpPr>
          <p:cNvPr id="9" name="Freeform 9"/>
          <p:cNvSpPr/>
          <p:nvPr/>
        </p:nvSpPr>
        <p:spPr>
          <a:xfrm>
            <a:off x="6260865" y="1993878"/>
            <a:ext cx="495600" cy="330400"/>
          </a:xfrm>
          <a:custGeom>
            <a:avLst/>
            <a:gdLst/>
            <a:ahLst/>
            <a:cxnLst/>
            <a:rect l="l" t="t" r="r" b="b"/>
            <a:pathLst>
              <a:path w="495600" h="330400">
                <a:moveTo>
                  <a:pt x="0" y="0"/>
                </a:moveTo>
                <a:lnTo>
                  <a:pt x="495600" y="0"/>
                </a:lnTo>
                <a:lnTo>
                  <a:pt x="495600" y="330400"/>
                </a:lnTo>
                <a:lnTo>
                  <a:pt x="0" y="330400"/>
                </a:lnTo>
                <a:lnTo>
                  <a:pt x="0" y="0"/>
                </a:lnTo>
                <a:close/>
              </a:path>
            </a:pathLst>
          </a:custGeom>
          <a:blipFill>
            <a:blip r:embed="rId6"/>
            <a:stretch>
              <a:fillRect/>
            </a:stretch>
          </a:blipFill>
        </p:spPr>
      </p:sp>
      <p:sp>
        <p:nvSpPr>
          <p:cNvPr id="10" name="Freeform 10"/>
          <p:cNvSpPr/>
          <p:nvPr/>
        </p:nvSpPr>
        <p:spPr>
          <a:xfrm>
            <a:off x="240168" y="6031511"/>
            <a:ext cx="8505843" cy="1390315"/>
          </a:xfrm>
          <a:custGeom>
            <a:avLst/>
            <a:gdLst/>
            <a:ahLst/>
            <a:cxnLst/>
            <a:rect l="l" t="t" r="r" b="b"/>
            <a:pathLst>
              <a:path w="8505843" h="1390315">
                <a:moveTo>
                  <a:pt x="0" y="0"/>
                </a:moveTo>
                <a:lnTo>
                  <a:pt x="8505844" y="0"/>
                </a:lnTo>
                <a:lnTo>
                  <a:pt x="8505844" y="1390315"/>
                </a:lnTo>
                <a:lnTo>
                  <a:pt x="0" y="1390315"/>
                </a:lnTo>
                <a:lnTo>
                  <a:pt x="0" y="0"/>
                </a:lnTo>
                <a:close/>
              </a:path>
            </a:pathLst>
          </a:custGeom>
          <a:blipFill>
            <a:blip r:embed="rId7"/>
            <a:stretch>
              <a:fillRect/>
            </a:stretch>
          </a:blipFill>
        </p:spPr>
      </p:sp>
      <p:sp>
        <p:nvSpPr>
          <p:cNvPr id="11" name="Freeform 11"/>
          <p:cNvSpPr/>
          <p:nvPr/>
        </p:nvSpPr>
        <p:spPr>
          <a:xfrm>
            <a:off x="8746012" y="6031511"/>
            <a:ext cx="9058409" cy="1384278"/>
          </a:xfrm>
          <a:custGeom>
            <a:avLst/>
            <a:gdLst/>
            <a:ahLst/>
            <a:cxnLst/>
            <a:rect l="l" t="t" r="r" b="b"/>
            <a:pathLst>
              <a:path w="9058409" h="1384278">
                <a:moveTo>
                  <a:pt x="0" y="0"/>
                </a:moveTo>
                <a:lnTo>
                  <a:pt x="9058409" y="0"/>
                </a:lnTo>
                <a:lnTo>
                  <a:pt x="9058409" y="1384278"/>
                </a:lnTo>
                <a:lnTo>
                  <a:pt x="0" y="1384278"/>
                </a:lnTo>
                <a:lnTo>
                  <a:pt x="0" y="0"/>
                </a:lnTo>
                <a:close/>
              </a:path>
            </a:pathLst>
          </a:custGeom>
          <a:blipFill>
            <a:blip r:embed="rId8"/>
            <a:stretch>
              <a:fillRect/>
            </a:stretch>
          </a:blipFill>
        </p:spPr>
      </p:sp>
      <p:sp>
        <p:nvSpPr>
          <p:cNvPr id="12" name="TextBox 12"/>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19</a:t>
            </a:r>
          </a:p>
        </p:txBody>
      </p:sp>
      <p:sp>
        <p:nvSpPr>
          <p:cNvPr id="13" name="TextBox 13"/>
          <p:cNvSpPr txBox="1"/>
          <p:nvPr/>
        </p:nvSpPr>
        <p:spPr>
          <a:xfrm>
            <a:off x="462234" y="632503"/>
            <a:ext cx="432883" cy="406073"/>
          </a:xfrm>
          <a:prstGeom prst="rect">
            <a:avLst/>
          </a:prstGeom>
        </p:spPr>
        <p:txBody>
          <a:bodyPr wrap="square" lIns="0" tIns="0" rIns="0" bIns="0" rtlCol="0" anchor="t">
            <a:spAutoFit/>
          </a:bodyPr>
          <a:lstStyle/>
          <a:p>
            <a:pPr algn="ctr">
              <a:lnSpc>
                <a:spcPts val="3360"/>
              </a:lnSpc>
              <a:spcBef>
                <a:spcPct val="0"/>
              </a:spcBef>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5.</a:t>
            </a:r>
          </a:p>
        </p:txBody>
      </p:sp>
      <p:sp>
        <p:nvSpPr>
          <p:cNvPr id="14" name="TextBox 14"/>
          <p:cNvSpPr txBox="1"/>
          <p:nvPr/>
        </p:nvSpPr>
        <p:spPr>
          <a:xfrm>
            <a:off x="2286000" y="3924300"/>
            <a:ext cx="1430655" cy="400050"/>
          </a:xfrm>
          <a:prstGeom prst="rect">
            <a:avLst/>
          </a:prstGeom>
        </p:spPr>
        <p:txBody>
          <a:bodyPr lIns="0" tIns="0" rIns="0" bIns="0" rtlCol="0" anchor="t">
            <a:noAutofit/>
          </a:bodyPr>
          <a:lstStyle/>
          <a:p>
            <a:pPr algn="ctr">
              <a:lnSpc>
                <a:spcPts val="3360"/>
              </a:lnSpc>
              <a:spcBef>
                <a:spcPct val="0"/>
              </a:spcBef>
            </a:pPr>
            <a:r>
              <a:rPr lang="en-US" sz="2400" b="1" dirty="0">
                <a:solidFill>
                  <a:srgbClr val="FFFFFF"/>
                </a:solidFill>
                <a:latin typeface="Lora Bold" panose="00000800000000000000"/>
                <a:ea typeface="Lora Bold" panose="00000800000000000000"/>
                <a:cs typeface="Lora Bold" panose="00000800000000000000"/>
                <a:sym typeface="Lora Bold" panose="00000800000000000000"/>
              </a:rPr>
              <a:t>Fig 9</a:t>
            </a:r>
          </a:p>
        </p:txBody>
      </p:sp>
      <p:sp>
        <p:nvSpPr>
          <p:cNvPr id="15" name="TextBox 15"/>
          <p:cNvSpPr txBox="1"/>
          <p:nvPr/>
        </p:nvSpPr>
        <p:spPr>
          <a:xfrm>
            <a:off x="5603240" y="7900035"/>
            <a:ext cx="7284720" cy="424180"/>
          </a:xfrm>
          <a:prstGeom prst="rect">
            <a:avLst/>
          </a:prstGeom>
        </p:spPr>
        <p:txBody>
          <a:bodyPr lIns="0" tIns="0" rIns="0" bIns="0" rtlCol="0" anchor="t">
            <a:noAutofit/>
          </a:bodyPr>
          <a:lstStyle/>
          <a:p>
            <a:pPr algn="ctr">
              <a:lnSpc>
                <a:spcPts val="3360"/>
              </a:lnSpc>
              <a:spcBef>
                <a:spcPct val="0"/>
              </a:spcBef>
            </a:pPr>
            <a:r>
              <a:rPr lang="en-US" sz="2400" b="1" dirty="0" err="1">
                <a:solidFill>
                  <a:srgbClr val="FFFFFF"/>
                </a:solidFill>
                <a:latin typeface="Lora Bold" panose="00000800000000000000"/>
                <a:ea typeface="Lora Bold" panose="00000800000000000000"/>
                <a:cs typeface="Lora Bold" panose="00000800000000000000"/>
                <a:sym typeface="Lora Bold" panose="00000800000000000000"/>
              </a:rPr>
              <a:t>FIg</a:t>
            </a:r>
            <a:r>
              <a:rPr lang="en-US" sz="2400" b="1" dirty="0">
                <a:solidFill>
                  <a:srgbClr val="FFFFFF"/>
                </a:solidFill>
                <a:latin typeface="Lora Bold" panose="00000800000000000000"/>
                <a:ea typeface="Lora Bold" panose="00000800000000000000"/>
                <a:cs typeface="Lora Bold" panose="00000800000000000000"/>
                <a:sym typeface="Lora Bold" panose="00000800000000000000"/>
              </a:rPr>
              <a:t> 10: First 5 images performance metrics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390097"/>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754466" y="302754"/>
            <a:ext cx="5275129" cy="3686480"/>
          </a:xfrm>
          <a:custGeom>
            <a:avLst/>
            <a:gdLst/>
            <a:ahLst/>
            <a:cxnLst/>
            <a:rect l="l" t="t" r="r" b="b"/>
            <a:pathLst>
              <a:path w="5275129" h="3686480">
                <a:moveTo>
                  <a:pt x="0" y="0"/>
                </a:moveTo>
                <a:lnTo>
                  <a:pt x="5275129" y="0"/>
                </a:lnTo>
                <a:lnTo>
                  <a:pt x="5275129" y="3686480"/>
                </a:lnTo>
                <a:lnTo>
                  <a:pt x="0" y="3686480"/>
                </a:lnTo>
                <a:lnTo>
                  <a:pt x="0" y="0"/>
                </a:lnTo>
                <a:close/>
              </a:path>
            </a:pathLst>
          </a:custGeom>
          <a:blipFill>
            <a:blip r:embed="rId4"/>
            <a:stretch>
              <a:fillRect/>
            </a:stretch>
          </a:blipFill>
        </p:spPr>
      </p:sp>
      <p:sp>
        <p:nvSpPr>
          <p:cNvPr id="8" name="Freeform 8"/>
          <p:cNvSpPr/>
          <p:nvPr/>
        </p:nvSpPr>
        <p:spPr>
          <a:xfrm>
            <a:off x="8578153" y="302754"/>
            <a:ext cx="8236254" cy="3686480"/>
          </a:xfrm>
          <a:custGeom>
            <a:avLst/>
            <a:gdLst/>
            <a:ahLst/>
            <a:cxnLst/>
            <a:rect l="l" t="t" r="r" b="b"/>
            <a:pathLst>
              <a:path w="8236254" h="3686480">
                <a:moveTo>
                  <a:pt x="0" y="0"/>
                </a:moveTo>
                <a:lnTo>
                  <a:pt x="8236254" y="0"/>
                </a:lnTo>
                <a:lnTo>
                  <a:pt x="8236254" y="3686480"/>
                </a:lnTo>
                <a:lnTo>
                  <a:pt x="0" y="3686480"/>
                </a:lnTo>
                <a:lnTo>
                  <a:pt x="0" y="0"/>
                </a:lnTo>
                <a:close/>
              </a:path>
            </a:pathLst>
          </a:custGeom>
          <a:blipFill>
            <a:blip r:embed="rId5"/>
            <a:stretch>
              <a:fillRect t="-550" b="-550"/>
            </a:stretch>
          </a:blipFill>
        </p:spPr>
      </p:sp>
      <p:sp>
        <p:nvSpPr>
          <p:cNvPr id="9" name="TextBox 9"/>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20</a:t>
            </a:r>
          </a:p>
        </p:txBody>
      </p:sp>
      <p:sp>
        <p:nvSpPr>
          <p:cNvPr id="10" name="TextBox 10"/>
          <p:cNvSpPr txBox="1"/>
          <p:nvPr/>
        </p:nvSpPr>
        <p:spPr>
          <a:xfrm>
            <a:off x="459631" y="4318983"/>
            <a:ext cx="6830637" cy="396197"/>
          </a:xfrm>
          <a:prstGeom prst="rect">
            <a:avLst/>
          </a:prstGeom>
        </p:spPr>
        <p:txBody>
          <a:bodyPr lIns="0" tIns="0" rIns="0" bIns="0" rtlCol="0" anchor="t">
            <a:spAutoFit/>
          </a:bodyPr>
          <a:lstStyle/>
          <a:p>
            <a:pPr algn="l">
              <a:lnSpc>
                <a:spcPts val="3360"/>
              </a:lnSpc>
              <a:spcBef>
                <a:spcPct val="0"/>
              </a:spcBef>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Fig 11: Final Average evaluation metrics</a:t>
            </a:r>
          </a:p>
        </p:txBody>
      </p:sp>
      <p:sp>
        <p:nvSpPr>
          <p:cNvPr id="11" name="TextBox 11"/>
          <p:cNvSpPr txBox="1"/>
          <p:nvPr/>
        </p:nvSpPr>
        <p:spPr>
          <a:xfrm>
            <a:off x="8362584" y="4318678"/>
            <a:ext cx="9126040" cy="396197"/>
          </a:xfrm>
          <a:prstGeom prst="rect">
            <a:avLst/>
          </a:prstGeom>
        </p:spPr>
        <p:txBody>
          <a:bodyPr lIns="0" tIns="0" rIns="0" bIns="0" rtlCol="0" anchor="t">
            <a:spAutoFit/>
          </a:bodyPr>
          <a:lstStyle/>
          <a:p>
            <a:pPr algn="l">
              <a:lnSpc>
                <a:spcPts val="3360"/>
              </a:lnSpc>
              <a:spcBef>
                <a:spcPct val="0"/>
              </a:spcBef>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Fig 12: Bar Chart Representation of  evaluation metrics</a:t>
            </a:r>
          </a:p>
        </p:txBody>
      </p:sp>
      <p:sp>
        <p:nvSpPr>
          <p:cNvPr id="12" name="Freeform 12"/>
          <p:cNvSpPr/>
          <p:nvPr/>
        </p:nvSpPr>
        <p:spPr>
          <a:xfrm>
            <a:off x="4644553" y="4981398"/>
            <a:ext cx="6179499" cy="3826704"/>
          </a:xfrm>
          <a:custGeom>
            <a:avLst/>
            <a:gdLst/>
            <a:ahLst/>
            <a:cxnLst/>
            <a:rect l="l" t="t" r="r" b="b"/>
            <a:pathLst>
              <a:path w="6179499" h="3826704">
                <a:moveTo>
                  <a:pt x="0" y="0"/>
                </a:moveTo>
                <a:lnTo>
                  <a:pt x="6179499" y="0"/>
                </a:lnTo>
                <a:lnTo>
                  <a:pt x="6179499" y="3826704"/>
                </a:lnTo>
                <a:lnTo>
                  <a:pt x="0" y="3826704"/>
                </a:lnTo>
                <a:lnTo>
                  <a:pt x="0" y="0"/>
                </a:lnTo>
                <a:close/>
              </a:path>
            </a:pathLst>
          </a:custGeom>
          <a:blipFill>
            <a:blip r:embed="rId6"/>
            <a:stretch>
              <a:fillRect/>
            </a:stretch>
          </a:blipFill>
        </p:spPr>
      </p:sp>
      <p:sp>
        <p:nvSpPr>
          <p:cNvPr id="13" name="TextBox 13"/>
          <p:cNvSpPr txBox="1"/>
          <p:nvPr/>
        </p:nvSpPr>
        <p:spPr>
          <a:xfrm>
            <a:off x="2306623" y="8893550"/>
            <a:ext cx="10855357" cy="363474"/>
          </a:xfrm>
          <a:prstGeom prst="rect">
            <a:avLst/>
          </a:prstGeom>
        </p:spPr>
        <p:txBody>
          <a:bodyPr lIns="0" tIns="0" rIns="0" bIns="0" rtlCol="0" anchor="t">
            <a:spAutoFit/>
          </a:bodyPr>
          <a:lstStyle/>
          <a:p>
            <a:pPr algn="l">
              <a:lnSpc>
                <a:spcPts val="3065"/>
              </a:lnSpc>
              <a:spcBef>
                <a:spcPct val="0"/>
              </a:spcBef>
            </a:pPr>
            <a:r>
              <a:rPr lang="en-US" sz="2190" b="1">
                <a:solidFill>
                  <a:srgbClr val="FFFFFF"/>
                </a:solidFill>
                <a:latin typeface="Lora Bold" panose="00000800000000000000"/>
                <a:ea typeface="Lora Bold" panose="00000800000000000000"/>
                <a:cs typeface="Lora Bold" panose="00000800000000000000"/>
                <a:sym typeface="Lora Bold" panose="00000800000000000000"/>
              </a:rPr>
              <a:t>Fig 13: Bar chart represenattion of Word level accuracy vs Exact match accuracy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611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5762610" y="253508"/>
            <a:ext cx="6242009" cy="3800815"/>
          </a:xfrm>
          <a:custGeom>
            <a:avLst/>
            <a:gdLst/>
            <a:ahLst/>
            <a:cxnLst/>
            <a:rect l="l" t="t" r="r" b="b"/>
            <a:pathLst>
              <a:path w="6242009" h="3800815">
                <a:moveTo>
                  <a:pt x="0" y="0"/>
                </a:moveTo>
                <a:lnTo>
                  <a:pt x="6242008" y="0"/>
                </a:lnTo>
                <a:lnTo>
                  <a:pt x="6242008" y="3800815"/>
                </a:lnTo>
                <a:lnTo>
                  <a:pt x="0" y="3800815"/>
                </a:lnTo>
                <a:lnTo>
                  <a:pt x="0" y="0"/>
                </a:lnTo>
                <a:close/>
              </a:path>
            </a:pathLst>
          </a:custGeom>
          <a:blipFill>
            <a:blip r:embed="rId4"/>
            <a:stretch>
              <a:fillRect r="-1513"/>
            </a:stretch>
          </a:blipFill>
        </p:spPr>
      </p:sp>
      <p:sp>
        <p:nvSpPr>
          <p:cNvPr id="8" name="Freeform 8"/>
          <p:cNvSpPr/>
          <p:nvPr/>
        </p:nvSpPr>
        <p:spPr>
          <a:xfrm>
            <a:off x="5762610" y="4656764"/>
            <a:ext cx="6053655" cy="3972169"/>
          </a:xfrm>
          <a:custGeom>
            <a:avLst/>
            <a:gdLst/>
            <a:ahLst/>
            <a:cxnLst/>
            <a:rect l="l" t="t" r="r" b="b"/>
            <a:pathLst>
              <a:path w="6053655" h="3972169">
                <a:moveTo>
                  <a:pt x="0" y="0"/>
                </a:moveTo>
                <a:lnTo>
                  <a:pt x="6053654" y="0"/>
                </a:lnTo>
                <a:lnTo>
                  <a:pt x="6053654" y="3972169"/>
                </a:lnTo>
                <a:lnTo>
                  <a:pt x="0" y="3972169"/>
                </a:lnTo>
                <a:lnTo>
                  <a:pt x="0" y="0"/>
                </a:lnTo>
                <a:close/>
              </a:path>
            </a:pathLst>
          </a:custGeom>
          <a:blipFill>
            <a:blip r:embed="rId5"/>
            <a:stretch>
              <a:fillRect/>
            </a:stretch>
          </a:blipFill>
        </p:spPr>
      </p:sp>
      <p:sp>
        <p:nvSpPr>
          <p:cNvPr id="9" name="TextBox 9"/>
          <p:cNvSpPr txBox="1"/>
          <p:nvPr/>
        </p:nvSpPr>
        <p:spPr>
          <a:xfrm>
            <a:off x="13348975" y="95901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21</a:t>
            </a:r>
          </a:p>
        </p:txBody>
      </p:sp>
      <p:sp>
        <p:nvSpPr>
          <p:cNvPr id="10" name="TextBox 10"/>
          <p:cNvSpPr txBox="1"/>
          <p:nvPr/>
        </p:nvSpPr>
        <p:spPr>
          <a:xfrm>
            <a:off x="4774703" y="4192435"/>
            <a:ext cx="8312323" cy="373793"/>
          </a:xfrm>
          <a:prstGeom prst="rect">
            <a:avLst/>
          </a:prstGeom>
        </p:spPr>
        <p:txBody>
          <a:bodyPr lIns="0" tIns="0" rIns="0" bIns="0" rtlCol="0" anchor="t">
            <a:spAutoFit/>
          </a:bodyPr>
          <a:lstStyle/>
          <a:p>
            <a:pPr algn="l">
              <a:lnSpc>
                <a:spcPts val="3060"/>
              </a:lnSpc>
              <a:spcBef>
                <a:spcPct val="0"/>
              </a:spcBef>
            </a:pPr>
            <a:r>
              <a:rPr lang="en-US" sz="2185" b="1" dirty="0">
                <a:solidFill>
                  <a:srgbClr val="FFFFFF"/>
                </a:solidFill>
                <a:latin typeface="Lora Bold" panose="00000800000000000000"/>
                <a:ea typeface="Lora Bold" panose="00000800000000000000"/>
                <a:cs typeface="Lora Bold" panose="00000800000000000000"/>
                <a:sym typeface="Lora Bold" panose="00000800000000000000"/>
              </a:rPr>
              <a:t>Fig 14: Bar chart </a:t>
            </a:r>
            <a:r>
              <a:rPr lang="en-US" sz="2185" b="1" dirty="0" err="1">
                <a:solidFill>
                  <a:srgbClr val="FFFFFF"/>
                </a:solidFill>
                <a:latin typeface="Lora Bold" panose="00000800000000000000"/>
                <a:ea typeface="Lora Bold" panose="00000800000000000000"/>
                <a:cs typeface="Lora Bold" panose="00000800000000000000"/>
                <a:sym typeface="Lora Bold" panose="00000800000000000000"/>
              </a:rPr>
              <a:t>represenattion</a:t>
            </a:r>
            <a:r>
              <a:rPr lang="en-US" sz="2185" b="1" dirty="0">
                <a:solidFill>
                  <a:srgbClr val="FFFFFF"/>
                </a:solidFill>
                <a:latin typeface="Lora Bold" panose="00000800000000000000"/>
                <a:ea typeface="Lora Bold" panose="00000800000000000000"/>
                <a:cs typeface="Lora Bold" panose="00000800000000000000"/>
                <a:sym typeface="Lora Bold" panose="00000800000000000000"/>
              </a:rPr>
              <a:t> of BLEU score comparison</a:t>
            </a:r>
          </a:p>
        </p:txBody>
      </p:sp>
      <p:sp>
        <p:nvSpPr>
          <p:cNvPr id="11" name="TextBox 11"/>
          <p:cNvSpPr txBox="1"/>
          <p:nvPr/>
        </p:nvSpPr>
        <p:spPr>
          <a:xfrm>
            <a:off x="4244340" y="8747125"/>
            <a:ext cx="9157335" cy="416560"/>
          </a:xfrm>
          <a:prstGeom prst="rect">
            <a:avLst/>
          </a:prstGeom>
        </p:spPr>
        <p:txBody>
          <a:bodyPr lIns="0" tIns="0" rIns="0" bIns="0" rtlCol="0" anchor="t">
            <a:noAutofit/>
          </a:bodyPr>
          <a:lstStyle/>
          <a:p>
            <a:pPr algn="ctr">
              <a:lnSpc>
                <a:spcPts val="3065"/>
              </a:lnSpc>
              <a:spcBef>
                <a:spcPct val="0"/>
              </a:spcBef>
            </a:pPr>
            <a:r>
              <a:rPr lang="en-US" sz="2190" b="1">
                <a:solidFill>
                  <a:srgbClr val="FFFFFF"/>
                </a:solidFill>
                <a:latin typeface="Lora Bold" panose="00000800000000000000"/>
                <a:ea typeface="Lora Bold" panose="00000800000000000000"/>
                <a:cs typeface="Lora Bold" panose="00000800000000000000"/>
                <a:sym typeface="Lora Bold" panose="00000800000000000000"/>
              </a:rPr>
              <a:t>Fig 15: Bar chart representation of Precision, Recall, F1-Score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0577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559807" y="8023246"/>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7272351" y="1581110"/>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15581606" y="2040741"/>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Freeform 8"/>
          <p:cNvSpPr/>
          <p:nvPr/>
        </p:nvSpPr>
        <p:spPr>
          <a:xfrm>
            <a:off x="1028700" y="2040741"/>
            <a:ext cx="4398169" cy="2855646"/>
          </a:xfrm>
          <a:custGeom>
            <a:avLst/>
            <a:gdLst/>
            <a:ahLst/>
            <a:cxnLst/>
            <a:rect l="l" t="t" r="r" b="b"/>
            <a:pathLst>
              <a:path w="4398169" h="2855646">
                <a:moveTo>
                  <a:pt x="0" y="0"/>
                </a:moveTo>
                <a:lnTo>
                  <a:pt x="4398169" y="0"/>
                </a:lnTo>
                <a:lnTo>
                  <a:pt x="4398169" y="2855646"/>
                </a:lnTo>
                <a:lnTo>
                  <a:pt x="0" y="2855646"/>
                </a:lnTo>
                <a:lnTo>
                  <a:pt x="0" y="0"/>
                </a:lnTo>
                <a:close/>
              </a:path>
            </a:pathLst>
          </a:custGeom>
          <a:blipFill>
            <a:blip r:embed="rId4"/>
            <a:stretch>
              <a:fillRect/>
            </a:stretch>
          </a:blipFill>
        </p:spPr>
      </p:sp>
      <p:sp>
        <p:nvSpPr>
          <p:cNvPr id="9" name="Freeform 9"/>
          <p:cNvSpPr/>
          <p:nvPr/>
        </p:nvSpPr>
        <p:spPr>
          <a:xfrm>
            <a:off x="1090668" y="5767264"/>
            <a:ext cx="4274233" cy="3270062"/>
          </a:xfrm>
          <a:custGeom>
            <a:avLst/>
            <a:gdLst/>
            <a:ahLst/>
            <a:cxnLst/>
            <a:rect l="l" t="t" r="r" b="b"/>
            <a:pathLst>
              <a:path w="4274233" h="3270062">
                <a:moveTo>
                  <a:pt x="0" y="0"/>
                </a:moveTo>
                <a:lnTo>
                  <a:pt x="4274233" y="0"/>
                </a:lnTo>
                <a:lnTo>
                  <a:pt x="4274233" y="3270063"/>
                </a:lnTo>
                <a:lnTo>
                  <a:pt x="0" y="3270063"/>
                </a:lnTo>
                <a:lnTo>
                  <a:pt x="0" y="0"/>
                </a:lnTo>
                <a:close/>
              </a:path>
            </a:pathLst>
          </a:custGeom>
          <a:blipFill>
            <a:blip r:embed="rId5"/>
            <a:stretch>
              <a:fillRect t="-1445" b="-1445"/>
            </a:stretch>
          </a:blipFill>
        </p:spPr>
      </p:sp>
      <p:sp>
        <p:nvSpPr>
          <p:cNvPr id="10" name="TextBox 10"/>
          <p:cNvSpPr txBox="1"/>
          <p:nvPr/>
        </p:nvSpPr>
        <p:spPr>
          <a:xfrm>
            <a:off x="15141575" y="9361805"/>
            <a:ext cx="1915795" cy="351155"/>
          </a:xfrm>
          <a:prstGeom prst="rect">
            <a:avLst/>
          </a:prstGeom>
        </p:spPr>
        <p:txBody>
          <a:bodyPr lIns="0" tIns="0" rIns="0" bIns="0" rtlCol="0" anchor="t">
            <a:no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22</a:t>
            </a:r>
          </a:p>
        </p:txBody>
      </p:sp>
      <p:sp>
        <p:nvSpPr>
          <p:cNvPr id="11" name="TextBox 11"/>
          <p:cNvSpPr txBox="1"/>
          <p:nvPr/>
        </p:nvSpPr>
        <p:spPr>
          <a:xfrm>
            <a:off x="2438400" y="297180"/>
            <a:ext cx="13519150" cy="1005205"/>
          </a:xfrm>
          <a:prstGeom prst="rect">
            <a:avLst/>
          </a:prstGeom>
        </p:spPr>
        <p:txBody>
          <a:bodyPr wrap="square" lIns="0" tIns="0" rIns="0" bIns="0" rtlCol="0" anchor="t">
            <a:spAutoFit/>
          </a:bodyPr>
          <a:lstStyle/>
          <a:p>
            <a:pPr algn="ctr">
              <a:lnSpc>
                <a:spcPts val="7840"/>
              </a:lnSpc>
              <a:spcBef>
                <a:spcPct val="0"/>
              </a:spcBef>
            </a:pPr>
            <a:r>
              <a:rPr lang="en-US" sz="5600" b="1">
                <a:solidFill>
                  <a:srgbClr val="59DAE4"/>
                </a:solidFill>
                <a:latin typeface="Lora Bold" panose="00000800000000000000"/>
                <a:ea typeface="Lora Bold" panose="00000800000000000000"/>
                <a:cs typeface="Lora Bold" panose="00000800000000000000"/>
                <a:sym typeface="Lora Bold" panose="00000800000000000000"/>
              </a:rPr>
              <a:t>INTERESTING/FAILURE CASES</a:t>
            </a:r>
          </a:p>
        </p:txBody>
      </p:sp>
      <p:sp>
        <p:nvSpPr>
          <p:cNvPr id="12" name="TextBox 12"/>
          <p:cNvSpPr txBox="1"/>
          <p:nvPr/>
        </p:nvSpPr>
        <p:spPr>
          <a:xfrm>
            <a:off x="1019437" y="1247735"/>
            <a:ext cx="10820656" cy="481309"/>
          </a:xfrm>
          <a:prstGeom prst="rect">
            <a:avLst/>
          </a:prstGeom>
        </p:spPr>
        <p:txBody>
          <a:bodyPr lIns="0" tIns="0" rIns="0" bIns="0" rtlCol="0" anchor="t">
            <a:spAutoFit/>
          </a:bodyPr>
          <a:lstStyle/>
          <a:p>
            <a:pPr algn="l">
              <a:lnSpc>
                <a:spcPts val="3920"/>
              </a:lnSpc>
              <a:spcBef>
                <a:spcPct val="0"/>
              </a:spcBef>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Failure Cases:</a:t>
            </a:r>
          </a:p>
        </p:txBody>
      </p:sp>
      <p:sp>
        <p:nvSpPr>
          <p:cNvPr id="13" name="TextBox 13"/>
          <p:cNvSpPr txBox="1"/>
          <p:nvPr/>
        </p:nvSpPr>
        <p:spPr>
          <a:xfrm>
            <a:off x="6179149" y="1575185"/>
            <a:ext cx="11674767" cy="3748657"/>
          </a:xfrm>
          <a:prstGeom prst="rect">
            <a:avLst/>
          </a:prstGeom>
        </p:spPr>
        <p:txBody>
          <a:bodyPr lIns="0" tIns="0" rIns="0" bIns="0" rtlCol="0" anchor="t">
            <a:spAutoFit/>
          </a:bodyPr>
          <a:lstStyle/>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Case 1: Incorrect Action Recognition</a:t>
            </a: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Actual scene: A man in red swimming shorts is pushing a baby stroller along a beach, while a woman and a young boy walk ahead.</a:t>
            </a: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Generated Caption: “A man and a woman are standing on the shore of a lake and are trying to look over a brown object.”</a:t>
            </a: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Problem: The model fails to identify the baby stroller and main action of pushing it. It also incorrectly describes the beach as lake shore.</a:t>
            </a:r>
          </a:p>
          <a:p>
            <a:pPr algn="l">
              <a:lnSpc>
                <a:spcPts val="3360"/>
              </a:lnSpc>
              <a:spcBef>
                <a:spcPct val="0"/>
              </a:spcBef>
            </a:pPr>
            <a:r>
              <a:rPr lang="en-US" sz="2400">
                <a:solidFill>
                  <a:srgbClr val="FFFFFF"/>
                </a:solidFill>
                <a:latin typeface="Lora" panose="00000500000000000000"/>
                <a:ea typeface="Lora" panose="00000500000000000000"/>
                <a:cs typeface="Lora" panose="00000500000000000000"/>
                <a:sym typeface="Lora" panose="00000500000000000000"/>
              </a:rPr>
              <a:t>Reason: CNN encoder may not extract sufficient visual details, while the attention mechanism and RNN decoder may fail to associate the objects with their actions.</a:t>
            </a:r>
          </a:p>
        </p:txBody>
      </p:sp>
      <p:sp>
        <p:nvSpPr>
          <p:cNvPr id="14" name="TextBox 14"/>
          <p:cNvSpPr txBox="1"/>
          <p:nvPr/>
        </p:nvSpPr>
        <p:spPr>
          <a:xfrm>
            <a:off x="6002709" y="5729164"/>
            <a:ext cx="11674767" cy="3329600"/>
          </a:xfrm>
          <a:prstGeom prst="rect">
            <a:avLst/>
          </a:prstGeom>
        </p:spPr>
        <p:txBody>
          <a:bodyPr lIns="0" tIns="0" rIns="0" bIns="0" rtlCol="0" anchor="t">
            <a:spAutoFit/>
          </a:bodyPr>
          <a:lstStyle/>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Case 2: Severe Object and Attribute Misidentification</a:t>
            </a: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Actual Scene: A man riding a purple snowmobile.</a:t>
            </a: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Generated Caption: “Two people are riding a blue shed in a blue and yellow vehicle.”</a:t>
            </a: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Problem: The model hallucinates the number of people and completely misidentifies the primary object and its attributes.</a:t>
            </a:r>
          </a:p>
          <a:p>
            <a:pPr algn="l">
              <a:lnSpc>
                <a:spcPts val="3360"/>
              </a:lnSpc>
              <a:spcBef>
                <a:spcPct val="0"/>
              </a:spcBef>
            </a:pPr>
            <a:r>
              <a:rPr lang="en-US" sz="2400">
                <a:solidFill>
                  <a:srgbClr val="FFFFFF"/>
                </a:solidFill>
                <a:latin typeface="Lora" panose="00000500000000000000"/>
                <a:ea typeface="Lora" panose="00000500000000000000"/>
                <a:cs typeface="Lora" panose="00000500000000000000"/>
                <a:sym typeface="Lora" panose="00000500000000000000"/>
              </a:rPr>
              <a:t>Reaon: Cnn encoder likely failed to capture the distinct geometric structure og the snowmobile, causing the attention mechanism to segment the scene poorly.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362584" y="-523428"/>
            <a:ext cx="11600207" cy="11009651"/>
          </a:xfrm>
          <a:custGeom>
            <a:avLst/>
            <a:gdLst/>
            <a:ahLst/>
            <a:cxnLst/>
            <a:rect l="l" t="t" r="r" b="b"/>
            <a:pathLst>
              <a:path w="11600207" h="11009651">
                <a:moveTo>
                  <a:pt x="0" y="0"/>
                </a:moveTo>
                <a:lnTo>
                  <a:pt x="11600207" y="0"/>
                </a:lnTo>
                <a:lnTo>
                  <a:pt x="11600207" y="11009651"/>
                </a:lnTo>
                <a:lnTo>
                  <a:pt x="0" y="11009651"/>
                </a:lnTo>
                <a:lnTo>
                  <a:pt x="0" y="0"/>
                </a:lnTo>
                <a:close/>
              </a:path>
            </a:pathLst>
          </a:custGeom>
          <a:blipFill>
            <a:blip>
              <a:alphaModFix amt="14000"/>
              <a:extLst>
                <a:ext uri="{96DAC541-7B7A-43D3-8B79-37D633B846F1}">
                  <asvg:svgBlip xmlns:asvg="http://schemas.microsoft.com/office/drawing/2016/SVG/main" r:embed="rId2"/>
                </a:ext>
              </a:extLst>
            </a:blip>
            <a:stretch>
              <a:fillRect/>
            </a:stretch>
          </a:blipFill>
        </p:spPr>
      </p:sp>
      <p:sp>
        <p:nvSpPr>
          <p:cNvPr id="3" name="AutoShape 3"/>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4" name="Freeform 4"/>
          <p:cNvSpPr/>
          <p:nvPr/>
        </p:nvSpPr>
        <p:spPr>
          <a:xfrm>
            <a:off x="559807" y="8023246"/>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7272351" y="1581110"/>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15581606" y="2040741"/>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5970134" y="1232740"/>
            <a:ext cx="11674767" cy="3748657"/>
          </a:xfrm>
          <a:prstGeom prst="rect">
            <a:avLst/>
          </a:prstGeom>
        </p:spPr>
        <p:txBody>
          <a:bodyPr lIns="0" tIns="0" rIns="0" bIns="0" rtlCol="0" anchor="t">
            <a:spAutoFit/>
          </a:bodyPr>
          <a:lstStyle/>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Case 1: Correct scene identification with minor errors</a:t>
            </a: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Actual scene: A child walking along tracks in the snow.</a:t>
            </a: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Generated Caption: “A person in a blue jacket and helmet with a snowboard”.</a:t>
            </a: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Reference Caption: “A young boy walks across tracks in the snow”. </a:t>
            </a: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Model Performance: It correctly identifies the person and the general snowy environment, but incorrectly predicts clothing color and winter-sports equipment.</a:t>
            </a:r>
          </a:p>
          <a:p>
            <a:pPr algn="l">
              <a:lnSpc>
                <a:spcPts val="3360"/>
              </a:lnSpc>
              <a:spcBef>
                <a:spcPct val="0"/>
              </a:spcBef>
            </a:pPr>
            <a:r>
              <a:rPr lang="en-US" sz="2400">
                <a:solidFill>
                  <a:srgbClr val="FFFFFF"/>
                </a:solidFill>
                <a:latin typeface="Lora" panose="00000500000000000000"/>
                <a:ea typeface="Lora" panose="00000500000000000000"/>
                <a:cs typeface="Lora" panose="00000500000000000000"/>
                <a:sym typeface="Lora" panose="00000500000000000000"/>
              </a:rPr>
              <a:t>Observation: The model recognizes the overall scene but struggles with fine-grained visual details and accurate action description.</a:t>
            </a:r>
          </a:p>
        </p:txBody>
      </p:sp>
      <p:sp>
        <p:nvSpPr>
          <p:cNvPr id="9" name="Freeform 9"/>
          <p:cNvSpPr/>
          <p:nvPr/>
        </p:nvSpPr>
        <p:spPr>
          <a:xfrm>
            <a:off x="1159050" y="1270840"/>
            <a:ext cx="3798926" cy="3202100"/>
          </a:xfrm>
          <a:custGeom>
            <a:avLst/>
            <a:gdLst/>
            <a:ahLst/>
            <a:cxnLst/>
            <a:rect l="l" t="t" r="r" b="b"/>
            <a:pathLst>
              <a:path w="3798926" h="3202100">
                <a:moveTo>
                  <a:pt x="0" y="0"/>
                </a:moveTo>
                <a:lnTo>
                  <a:pt x="3798926" y="0"/>
                </a:lnTo>
                <a:lnTo>
                  <a:pt x="3798926" y="3202101"/>
                </a:lnTo>
                <a:lnTo>
                  <a:pt x="0" y="3202101"/>
                </a:lnTo>
                <a:lnTo>
                  <a:pt x="0" y="0"/>
                </a:lnTo>
                <a:close/>
              </a:path>
            </a:pathLst>
          </a:custGeom>
          <a:blipFill>
            <a:blip r:embed="rId4"/>
            <a:stretch>
              <a:fillRect/>
            </a:stretch>
          </a:blipFill>
        </p:spPr>
      </p:sp>
      <p:sp>
        <p:nvSpPr>
          <p:cNvPr id="10" name="Freeform 10"/>
          <p:cNvSpPr/>
          <p:nvPr/>
        </p:nvSpPr>
        <p:spPr>
          <a:xfrm>
            <a:off x="1019437" y="5439513"/>
            <a:ext cx="4054567" cy="3493007"/>
          </a:xfrm>
          <a:custGeom>
            <a:avLst/>
            <a:gdLst/>
            <a:ahLst/>
            <a:cxnLst/>
            <a:rect l="l" t="t" r="r" b="b"/>
            <a:pathLst>
              <a:path w="4054567" h="3493007">
                <a:moveTo>
                  <a:pt x="0" y="0"/>
                </a:moveTo>
                <a:lnTo>
                  <a:pt x="4054567" y="0"/>
                </a:lnTo>
                <a:lnTo>
                  <a:pt x="4054567" y="3493007"/>
                </a:lnTo>
                <a:lnTo>
                  <a:pt x="0" y="3493007"/>
                </a:lnTo>
                <a:lnTo>
                  <a:pt x="0" y="0"/>
                </a:lnTo>
                <a:close/>
              </a:path>
            </a:pathLst>
          </a:custGeom>
          <a:blipFill>
            <a:blip r:embed="rId5"/>
            <a:stretch>
              <a:fillRect/>
            </a:stretch>
          </a:blipFill>
        </p:spPr>
      </p:sp>
      <p:sp>
        <p:nvSpPr>
          <p:cNvPr id="11" name="TextBox 11"/>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23</a:t>
            </a:r>
          </a:p>
        </p:txBody>
      </p:sp>
      <p:sp>
        <p:nvSpPr>
          <p:cNvPr id="12" name="TextBox 12"/>
          <p:cNvSpPr txBox="1"/>
          <p:nvPr/>
        </p:nvSpPr>
        <p:spPr>
          <a:xfrm>
            <a:off x="1159050" y="503781"/>
            <a:ext cx="10820656" cy="481309"/>
          </a:xfrm>
          <a:prstGeom prst="rect">
            <a:avLst/>
          </a:prstGeom>
        </p:spPr>
        <p:txBody>
          <a:bodyPr lIns="0" tIns="0" rIns="0" bIns="0" rtlCol="0" anchor="t">
            <a:spAutoFit/>
          </a:bodyPr>
          <a:lstStyle/>
          <a:p>
            <a:pPr algn="l">
              <a:lnSpc>
                <a:spcPts val="3920"/>
              </a:lnSpc>
              <a:spcBef>
                <a:spcPct val="0"/>
              </a:spcBef>
            </a:pPr>
            <a:r>
              <a:rPr lang="en-US" sz="2800" b="1">
                <a:solidFill>
                  <a:srgbClr val="FFFFFF"/>
                </a:solidFill>
                <a:latin typeface="Lora Bold" panose="00000800000000000000"/>
                <a:ea typeface="Lora Bold" panose="00000800000000000000"/>
                <a:cs typeface="Lora Bold" panose="00000800000000000000"/>
                <a:sym typeface="Lora Bold" panose="00000800000000000000"/>
              </a:rPr>
              <a:t>Interesting Cases:</a:t>
            </a:r>
          </a:p>
        </p:txBody>
      </p:sp>
      <p:sp>
        <p:nvSpPr>
          <p:cNvPr id="13" name="TextBox 13"/>
          <p:cNvSpPr txBox="1"/>
          <p:nvPr/>
        </p:nvSpPr>
        <p:spPr>
          <a:xfrm>
            <a:off x="5836579" y="5495748"/>
            <a:ext cx="11422721" cy="3329600"/>
          </a:xfrm>
          <a:prstGeom prst="rect">
            <a:avLst/>
          </a:prstGeom>
        </p:spPr>
        <p:txBody>
          <a:bodyPr lIns="0" tIns="0" rIns="0" bIns="0" rtlCol="0" anchor="t">
            <a:spAutoFit/>
          </a:bodyPr>
          <a:lstStyle/>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Case 2: Correct action recognition with object confusion</a:t>
            </a: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Actual scene: A golden-colored dog running toward the camera on a grassy field.</a:t>
            </a: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Generated caption: “A white dog is running alongside another dog”.</a:t>
            </a: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Reference caption: “A tan dog runs along the grass”.</a:t>
            </a: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Model performance: It correctly identifies a dog running, but incorrectly describes its color and also predict another dog that is not visible.</a:t>
            </a:r>
          </a:p>
          <a:p>
            <a:pPr algn="l">
              <a:lnSpc>
                <a:spcPts val="3360"/>
              </a:lnSpc>
              <a:spcBef>
                <a:spcPct val="0"/>
              </a:spcBef>
            </a:pPr>
            <a:r>
              <a:rPr lang="en-US" sz="2400">
                <a:solidFill>
                  <a:srgbClr val="FFFFFF"/>
                </a:solidFill>
                <a:latin typeface="Lora" panose="00000500000000000000"/>
                <a:ea typeface="Lora" panose="00000500000000000000"/>
                <a:cs typeface="Lora" panose="00000500000000000000"/>
                <a:sym typeface="Lora" panose="00000500000000000000"/>
              </a:rPr>
              <a:t>Observation: The model recognizes the main object and action but struggles with accurate color recognition and object counting.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3" name="Freeform 3"/>
          <p:cNvSpPr/>
          <p:nvPr/>
        </p:nvSpPr>
        <p:spPr>
          <a:xfrm>
            <a:off x="8224739" y="6086175"/>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TextBox 5"/>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24</a:t>
            </a:r>
          </a:p>
        </p:txBody>
      </p:sp>
      <p:sp>
        <p:nvSpPr>
          <p:cNvPr id="6" name="TextBox 6"/>
          <p:cNvSpPr txBox="1"/>
          <p:nvPr/>
        </p:nvSpPr>
        <p:spPr>
          <a:xfrm>
            <a:off x="778941" y="606288"/>
            <a:ext cx="17259300" cy="1776603"/>
          </a:xfrm>
          <a:prstGeom prst="rect">
            <a:avLst/>
          </a:prstGeom>
        </p:spPr>
        <p:txBody>
          <a:bodyPr lIns="0" tIns="0" rIns="0" bIns="0" rtlCol="0" anchor="t">
            <a:spAutoFit/>
          </a:bodyPr>
          <a:lstStyle/>
          <a:p>
            <a:pPr algn="ctr">
              <a:lnSpc>
                <a:spcPts val="7055"/>
              </a:lnSpc>
            </a:pPr>
            <a:r>
              <a:rPr lang="en-US" sz="5600" b="1">
                <a:solidFill>
                  <a:srgbClr val="59DAE4"/>
                </a:solidFill>
                <a:latin typeface="Lora Bold" panose="00000800000000000000"/>
                <a:ea typeface="Lora Bold" panose="00000800000000000000"/>
                <a:cs typeface="Lora Bold" panose="00000800000000000000"/>
                <a:sym typeface="Lora Bold" panose="00000800000000000000"/>
              </a:rPr>
              <a:t> CONCLUSION, LIMITATIONS, AND FUTURE IMPROVEMENTS</a:t>
            </a:r>
          </a:p>
        </p:txBody>
      </p:sp>
      <p:sp>
        <p:nvSpPr>
          <p:cNvPr id="7" name="TextBox 7"/>
          <p:cNvSpPr txBox="1"/>
          <p:nvPr/>
        </p:nvSpPr>
        <p:spPr>
          <a:xfrm>
            <a:off x="1325950" y="3021330"/>
            <a:ext cx="15674200" cy="5096510"/>
          </a:xfrm>
          <a:prstGeom prst="rect">
            <a:avLst/>
          </a:prstGeom>
        </p:spPr>
        <p:txBody>
          <a:bodyPr lIns="0" tIns="0" rIns="0" bIns="0" rtlCol="0" anchor="t">
            <a:spAutoFit/>
          </a:bodyPr>
          <a:lstStyle/>
          <a:p>
            <a:pPr algn="l">
              <a:lnSpc>
                <a:spcPts val="3920"/>
              </a:lnSpc>
            </a:pPr>
            <a:r>
              <a:rPr lang="en-US" sz="2800">
                <a:solidFill>
                  <a:srgbClr val="FFFFFF"/>
                </a:solidFill>
                <a:latin typeface="Lora" panose="00000500000000000000"/>
                <a:ea typeface="Lora" panose="00000500000000000000"/>
                <a:cs typeface="Lora" panose="00000500000000000000"/>
                <a:sym typeface="Lora" panose="00000500000000000000"/>
              </a:rPr>
              <a:t>CONCLUSION :</a:t>
            </a:r>
          </a:p>
          <a:p>
            <a:pPr algn="l">
              <a:lnSpc>
                <a:spcPts val="3360"/>
              </a:lnSpc>
            </a:pPr>
            <a:endParaRPr lang="en-US" sz="2800">
              <a:solidFill>
                <a:srgbClr val="FFFFFF"/>
              </a:solidFill>
              <a:latin typeface="Lora" panose="00000500000000000000"/>
              <a:ea typeface="Lora" panose="00000500000000000000"/>
              <a:cs typeface="Lora" panose="00000500000000000000"/>
              <a:sym typeface="Lora" panose="00000500000000000000"/>
            </a:endParaRP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Automatic image captioning uses deep learning to generate meaningful descriptions of images. In our project, we used the Flickr8K dataset from Kaggle, containing approximately 8,000 images, each with five human-written captions.</a:t>
            </a: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We used a CNN encoder, an RNN decoder, and an attention mechanism to extract visual features and generate captions word by word. This project can help reduce manual effort, improve image accessibility for visually impaired people, and make searching and organizing images easier.</a:t>
            </a:r>
          </a:p>
          <a:p>
            <a:pPr algn="l">
              <a:lnSpc>
                <a:spcPts val="3360"/>
              </a:lnSpc>
            </a:pPr>
            <a:r>
              <a:rPr lang="en-US" sz="2400">
                <a:solidFill>
                  <a:srgbClr val="FFFFFF"/>
                </a:solidFill>
                <a:latin typeface="Lora" panose="00000500000000000000"/>
                <a:ea typeface="Lora" panose="00000500000000000000"/>
                <a:cs typeface="Lora" panose="00000500000000000000"/>
                <a:sym typeface="Lora" panose="00000500000000000000"/>
              </a:rPr>
              <a:t>Overall, automatic image captioning has promising applications in accessibility, education, digital media, and image retrieval. However, the quality of generated captions depends on the dataset, model architecture, training process, and complexity of the images. Further improvements are needed to make the captions more accurate, descriptive, and reliable.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3" name="Freeform 3"/>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25</a:t>
            </a:r>
          </a:p>
        </p:txBody>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TextBox 7"/>
          <p:cNvSpPr txBox="1"/>
          <p:nvPr/>
        </p:nvSpPr>
        <p:spPr>
          <a:xfrm>
            <a:off x="917402" y="648622"/>
            <a:ext cx="15412892" cy="10124711"/>
          </a:xfrm>
          <a:prstGeom prst="rect">
            <a:avLst/>
          </a:prstGeom>
        </p:spPr>
        <p:txBody>
          <a:bodyPr lIns="0" tIns="0" rIns="0" bIns="0" rtlCol="0" anchor="t">
            <a:spAutoFit/>
          </a:bodyPr>
          <a:lstStyle/>
          <a:p>
            <a:pPr algn="just">
              <a:lnSpc>
                <a:spcPts val="3920"/>
              </a:lnSpc>
            </a:pPr>
            <a:r>
              <a:rPr lang="en-US" sz="2800">
                <a:solidFill>
                  <a:srgbClr val="FFFFFF"/>
                </a:solidFill>
                <a:latin typeface="Lora" panose="00000500000000000000"/>
                <a:ea typeface="Lora" panose="00000500000000000000"/>
                <a:cs typeface="Lora" panose="00000500000000000000"/>
                <a:sym typeface="Lora" panose="00000500000000000000"/>
              </a:rPr>
              <a:t>LIMITATIONS :</a:t>
            </a:r>
          </a:p>
          <a:p>
            <a:pPr algn="just">
              <a:lnSpc>
                <a:spcPts val="3360"/>
              </a:lnSpc>
            </a:pPr>
            <a:endParaRPr lang="en-US" sz="2800">
              <a:solidFill>
                <a:srgbClr val="FFFFFF"/>
              </a:solidFill>
              <a:latin typeface="Lora" panose="00000500000000000000"/>
              <a:ea typeface="Lora" panose="00000500000000000000"/>
              <a:cs typeface="Lora" panose="00000500000000000000"/>
              <a:sym typeface="Lora" panose="00000500000000000000"/>
            </a:endParaRP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Limited Dataset Size</a:t>
            </a:r>
            <a:r>
              <a:rPr lang="en-US" sz="2400">
                <a:solidFill>
                  <a:srgbClr val="FFFFFF"/>
                </a:solidFill>
                <a:latin typeface="Lora" panose="00000500000000000000"/>
                <a:ea typeface="Lora" panose="00000500000000000000"/>
                <a:cs typeface="Lora" panose="00000500000000000000"/>
                <a:sym typeface="Lora" panose="00000500000000000000"/>
              </a:rPr>
              <a:t> : The Flickr8K dataset contains approximately 8,000 images, which is relatively small for training complex deep learning models. As a result, the model may not learn enough visual patterns to describe every type of image accurately. It may perform well on familiar scenes but struggle with unusual objects or situations.</a:t>
            </a: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Difficulty Understanding Context </a:t>
            </a:r>
            <a:r>
              <a:rPr lang="en-US" sz="2400">
                <a:solidFill>
                  <a:srgbClr val="FFFFFF"/>
                </a:solidFill>
                <a:latin typeface="Lora" panose="00000500000000000000"/>
                <a:ea typeface="Lora" panose="00000500000000000000"/>
                <a:cs typeface="Lora" panose="00000500000000000000"/>
                <a:sym typeface="Lora" panose="00000500000000000000"/>
              </a:rPr>
              <a:t>: The model may identify individual objects but fail to understand the complete situation. For example, it might recognize a person and a bicycle without correctly describing the person's activity or the relationship between them.</a:t>
            </a: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Repetitive and Generic Captions </a:t>
            </a:r>
            <a:r>
              <a:rPr lang="en-US" sz="2400">
                <a:solidFill>
                  <a:srgbClr val="FFFFFF"/>
                </a:solidFill>
                <a:latin typeface="Lora" panose="00000500000000000000"/>
                <a:ea typeface="Lora" panose="00000500000000000000"/>
                <a:cs typeface="Lora" panose="00000500000000000000"/>
                <a:sym typeface="Lora" panose="00000500000000000000"/>
              </a:rPr>
              <a:t>: The model may generate similar captions for different images, such as “A person is standing outside.” Such captions may be grammatically correct but may not describe the unique details of a particular image.</a:t>
            </a: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Limitations of Attention Mechanisms</a:t>
            </a:r>
            <a:r>
              <a:rPr lang="en-US" sz="2400">
                <a:solidFill>
                  <a:srgbClr val="FFFFFF"/>
                </a:solidFill>
                <a:latin typeface="Lora" panose="00000500000000000000"/>
                <a:ea typeface="Lora" panose="00000500000000000000"/>
                <a:cs typeface="Lora" panose="00000500000000000000"/>
                <a:sym typeface="Lora" panose="00000500000000000000"/>
              </a:rPr>
              <a:t> : Attention mechanisms help the model focus on relevant visual features, but they do not guarantee complete scene understanding. The model may assign attention to irrelevant regions or overlook small but important details.</a:t>
            </a: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Evaluation Challenges </a:t>
            </a:r>
            <a:r>
              <a:rPr lang="en-US" sz="2400">
                <a:solidFill>
                  <a:srgbClr val="FFFFFF"/>
                </a:solidFill>
                <a:latin typeface="Lora" panose="00000500000000000000"/>
                <a:ea typeface="Lora" panose="00000500000000000000"/>
                <a:cs typeface="Lora" panose="00000500000000000000"/>
                <a:sym typeface="Lora" panose="00000500000000000000"/>
              </a:rPr>
              <a:t>: Automatic evaluation metrics such as BLEU and ROUGE compare generated captions with reference captions. However, a caption may be correct even if it uses different words from the reference. Therefore, these metrics may not fully capture the meaning, usefulness, or accuracy of a generated caption.</a:t>
            </a:r>
          </a:p>
          <a:p>
            <a:pPr algn="just">
              <a:lnSpc>
                <a:spcPts val="3360"/>
              </a:lnSpc>
            </a:pPr>
            <a:endParaRPr lang="en-US" sz="2400">
              <a:solidFill>
                <a:srgbClr val="FFFFFF"/>
              </a:solidFill>
              <a:latin typeface="Lora" panose="00000500000000000000"/>
              <a:ea typeface="Lora" panose="00000500000000000000"/>
              <a:cs typeface="Lora" panose="00000500000000000000"/>
              <a:sym typeface="Lora" panose="00000500000000000000"/>
            </a:endParaRPr>
          </a:p>
          <a:p>
            <a:pPr algn="just">
              <a:lnSpc>
                <a:spcPts val="3360"/>
              </a:lnSpc>
            </a:pPr>
            <a:endParaRPr lang="en-US" sz="2400">
              <a:solidFill>
                <a:srgbClr val="FFFFFF"/>
              </a:solidFill>
              <a:latin typeface="Lora" panose="00000500000000000000"/>
              <a:ea typeface="Lora" panose="00000500000000000000"/>
              <a:cs typeface="Lora" panose="00000500000000000000"/>
              <a:sym typeface="Lora" panose="00000500000000000000"/>
            </a:endParaRPr>
          </a:p>
          <a:p>
            <a:pPr algn="just">
              <a:lnSpc>
                <a:spcPts val="3360"/>
              </a:lnSpc>
            </a:pPr>
            <a:endParaRPr lang="en-US" sz="2400">
              <a:solidFill>
                <a:srgbClr val="FFFFFF"/>
              </a:solidFill>
              <a:latin typeface="Lora" panose="00000500000000000000"/>
              <a:ea typeface="Lora" panose="00000500000000000000"/>
              <a:cs typeface="Lora" panose="00000500000000000000"/>
              <a:sym typeface="Lora" panose="00000500000000000000"/>
            </a:endParaRPr>
          </a:p>
          <a:p>
            <a:pPr algn="just">
              <a:lnSpc>
                <a:spcPts val="3360"/>
              </a:lnSpc>
            </a:pPr>
            <a:endParaRPr lang="en-US" sz="2400">
              <a:solidFill>
                <a:srgbClr val="FFFFFF"/>
              </a:solidFill>
              <a:latin typeface="Lora" panose="00000500000000000000"/>
              <a:ea typeface="Lora" panose="00000500000000000000"/>
              <a:cs typeface="Lora" panose="00000500000000000000"/>
              <a:sym typeface="Lora" panose="00000500000000000000"/>
            </a:endParaRPr>
          </a:p>
          <a:p>
            <a:pPr algn="just">
              <a:lnSpc>
                <a:spcPts val="3360"/>
              </a:lnSpc>
            </a:pPr>
            <a:endParaRPr lang="en-US" sz="2400">
              <a:solidFill>
                <a:srgbClr val="FFFFFF"/>
              </a:solidFill>
              <a:latin typeface="Lora" panose="00000500000000000000"/>
              <a:ea typeface="Lora" panose="00000500000000000000"/>
              <a:cs typeface="Lora" panose="00000500000000000000"/>
              <a:sym typeface="Lora" panose="0000050000000000000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41443">
                <a:alpha val="100000"/>
              </a:srgbClr>
            </a:gs>
          </a:gsLst>
          <a:lin ang="0"/>
        </a:gradFill>
        <a:effectLst/>
      </p:bgPr>
    </p:bg>
    <p:spTree>
      <p:nvGrpSpPr>
        <p:cNvPr id="1" name=""/>
        <p:cNvGrpSpPr/>
        <p:nvPr/>
      </p:nvGrpSpPr>
      <p:grpSpPr>
        <a:xfrm>
          <a:off x="0" y="0"/>
          <a:ext cx="0" cy="0"/>
          <a:chOff x="0" y="0"/>
          <a:chExt cx="0" cy="0"/>
        </a:xfrm>
      </p:grpSpPr>
      <p:sp>
        <p:nvSpPr>
          <p:cNvPr id="2" name="AutoShape 2"/>
          <p:cNvSpPr/>
          <p:nvPr/>
        </p:nvSpPr>
        <p:spPr>
          <a:xfrm>
            <a:off x="1028700" y="9230214"/>
            <a:ext cx="16230600" cy="0"/>
          </a:xfrm>
          <a:prstGeom prst="line">
            <a:avLst/>
          </a:prstGeom>
          <a:ln w="19050" cap="flat">
            <a:solidFill>
              <a:srgbClr val="FFFFFF"/>
            </a:solidFill>
            <a:prstDash val="solid"/>
            <a:headEnd type="none" w="sm" len="sm"/>
            <a:tailEnd type="none" w="sm" len="sm"/>
          </a:ln>
        </p:spPr>
      </p:sp>
      <p:sp>
        <p:nvSpPr>
          <p:cNvPr id="3" name="Freeform 3"/>
          <p:cNvSpPr/>
          <p:nvPr/>
        </p:nvSpPr>
        <p:spPr>
          <a:xfrm>
            <a:off x="831677" y="7966332"/>
            <a:ext cx="919261" cy="919261"/>
          </a:xfrm>
          <a:custGeom>
            <a:avLst/>
            <a:gdLst/>
            <a:ahLst/>
            <a:cxnLst/>
            <a:rect l="l" t="t" r="r" b="b"/>
            <a:pathLst>
              <a:path w="919261" h="919261">
                <a:moveTo>
                  <a:pt x="0" y="0"/>
                </a:moveTo>
                <a:lnTo>
                  <a:pt x="919261" y="0"/>
                </a:lnTo>
                <a:lnTo>
                  <a:pt x="919261" y="919262"/>
                </a:lnTo>
                <a:lnTo>
                  <a:pt x="0" y="91926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13348975" y="9361522"/>
            <a:ext cx="3708160" cy="356235"/>
          </a:xfrm>
          <a:prstGeom prst="rect">
            <a:avLst/>
          </a:prstGeom>
        </p:spPr>
        <p:txBody>
          <a:bodyPr lIns="0" tIns="0" rIns="0" bIns="0" rtlCol="0" anchor="t">
            <a:spAutoFit/>
          </a:bodyPr>
          <a:lstStyle/>
          <a:p>
            <a:pPr algn="r">
              <a:lnSpc>
                <a:spcPts val="2940"/>
              </a:lnSpc>
            </a:pPr>
            <a:r>
              <a:rPr lang="en-US" sz="2100">
                <a:solidFill>
                  <a:srgbClr val="FFFFFF"/>
                </a:solidFill>
                <a:latin typeface="Lora" panose="00000500000000000000"/>
                <a:ea typeface="Lora" panose="00000500000000000000"/>
                <a:cs typeface="Lora" panose="00000500000000000000"/>
                <a:sym typeface="Lora" panose="00000500000000000000"/>
              </a:rPr>
              <a:t>Page 26</a:t>
            </a:r>
          </a:p>
        </p:txBody>
      </p:sp>
      <p:sp>
        <p:nvSpPr>
          <p:cNvPr id="5" name="Freeform 5"/>
          <p:cNvSpPr/>
          <p:nvPr/>
        </p:nvSpPr>
        <p:spPr>
          <a:xfrm>
            <a:off x="5603370" y="2159078"/>
            <a:ext cx="919261" cy="919261"/>
          </a:xfrm>
          <a:custGeom>
            <a:avLst/>
            <a:gdLst/>
            <a:ahLst/>
            <a:cxnLst/>
            <a:rect l="l" t="t" r="r" b="b"/>
            <a:pathLst>
              <a:path w="919261" h="919261">
                <a:moveTo>
                  <a:pt x="0" y="0"/>
                </a:moveTo>
                <a:lnTo>
                  <a:pt x="919261" y="0"/>
                </a:lnTo>
                <a:lnTo>
                  <a:pt x="919261" y="919261"/>
                </a:lnTo>
                <a:lnTo>
                  <a:pt x="0" y="9192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459631" y="0"/>
            <a:ext cx="919261" cy="919261"/>
          </a:xfrm>
          <a:custGeom>
            <a:avLst/>
            <a:gdLst/>
            <a:ahLst/>
            <a:cxnLst/>
            <a:rect l="l" t="t" r="r" b="b"/>
            <a:pathLst>
              <a:path w="919261" h="919261">
                <a:moveTo>
                  <a:pt x="0" y="0"/>
                </a:moveTo>
                <a:lnTo>
                  <a:pt x="919262" y="0"/>
                </a:lnTo>
                <a:lnTo>
                  <a:pt x="919262" y="919261"/>
                </a:lnTo>
                <a:lnTo>
                  <a:pt x="0" y="9192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TextBox 7"/>
          <p:cNvSpPr txBox="1"/>
          <p:nvPr/>
        </p:nvSpPr>
        <p:spPr>
          <a:xfrm>
            <a:off x="463187" y="675135"/>
            <a:ext cx="17361627" cy="10619990"/>
          </a:xfrm>
          <a:prstGeom prst="rect">
            <a:avLst/>
          </a:prstGeom>
        </p:spPr>
        <p:txBody>
          <a:bodyPr lIns="0" tIns="0" rIns="0" bIns="0" rtlCol="0" anchor="t">
            <a:spAutoFit/>
          </a:bodyPr>
          <a:lstStyle/>
          <a:p>
            <a:pPr algn="just">
              <a:lnSpc>
                <a:spcPts val="3920"/>
              </a:lnSpc>
            </a:pPr>
            <a:r>
              <a:rPr lang="en-US" sz="2800">
                <a:solidFill>
                  <a:srgbClr val="FFFFFF"/>
                </a:solidFill>
                <a:latin typeface="Lora" panose="00000500000000000000"/>
                <a:ea typeface="Lora" panose="00000500000000000000"/>
                <a:cs typeface="Lora" panose="00000500000000000000"/>
                <a:sym typeface="Lora" panose="00000500000000000000"/>
              </a:rPr>
              <a:t>FUTURE IMPROVEMENTS  :</a:t>
            </a:r>
          </a:p>
          <a:p>
            <a:pPr algn="just">
              <a:lnSpc>
                <a:spcPts val="3920"/>
              </a:lnSpc>
            </a:pPr>
            <a:endParaRPr lang="en-US" sz="2800">
              <a:solidFill>
                <a:srgbClr val="FFFFFF"/>
              </a:solidFill>
              <a:latin typeface="Lora" panose="00000500000000000000"/>
              <a:ea typeface="Lora" panose="00000500000000000000"/>
              <a:cs typeface="Lora" panose="00000500000000000000"/>
              <a:sym typeface="Lora" panose="00000500000000000000"/>
            </a:endParaRP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Use Larger and More Diverse Datasets :</a:t>
            </a:r>
            <a:r>
              <a:rPr lang="en-US" sz="2400">
                <a:solidFill>
                  <a:srgbClr val="FFFFFF"/>
                </a:solidFill>
                <a:latin typeface="Lora" panose="00000500000000000000"/>
                <a:ea typeface="Lora" panose="00000500000000000000"/>
                <a:cs typeface="Lora" panose="00000500000000000000"/>
                <a:sym typeface="Lora" panose="00000500000000000000"/>
              </a:rPr>
              <a:t> Our future work can use larger datasets, such as Flickr30k or MS COCO, containing more images and captions. A more diverse dataset can help the model learn a wider range of objects, activities, backgrounds, and real-world situations.</a:t>
            </a: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Improve CNN-Based Feature Extraction</a:t>
            </a:r>
            <a:r>
              <a:rPr lang="en-US" sz="2400">
                <a:solidFill>
                  <a:srgbClr val="FFFFFF"/>
                </a:solidFill>
                <a:latin typeface="Lora" panose="00000500000000000000"/>
                <a:ea typeface="Lora" panose="00000500000000000000"/>
                <a:cs typeface="Lora" panose="00000500000000000000"/>
                <a:sym typeface="Lora" panose="00000500000000000000"/>
              </a:rPr>
              <a:t> : More advanced image encoders, such as EfficientNet, ResNet, or Vision Transformer (ViT), can be explored to extract richer visual features. Better feature extraction may help the model recognize objects and understand complex scenes more effectively.</a:t>
            </a: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Generate More Natural and Detailed Captions</a:t>
            </a:r>
            <a:r>
              <a:rPr lang="en-US" sz="2400">
                <a:solidFill>
                  <a:srgbClr val="FFFFFF"/>
                </a:solidFill>
                <a:latin typeface="Lora" panose="00000500000000000000"/>
                <a:ea typeface="Lora" panose="00000500000000000000"/>
                <a:cs typeface="Lora" panose="00000500000000000000"/>
                <a:sym typeface="Lora" panose="00000500000000000000"/>
              </a:rPr>
              <a:t> : Future improvements can focus on producing captions that are grammatically correct, informative, and less repetitive. The system should describe not only the objects in an image but also their activities and relationships when these details are visually supported.</a:t>
            </a: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Improve Evaluation Methods</a:t>
            </a:r>
            <a:r>
              <a:rPr lang="en-US" sz="2400">
                <a:solidFill>
                  <a:srgbClr val="FFFFFF"/>
                </a:solidFill>
                <a:latin typeface="Lora" panose="00000500000000000000"/>
                <a:ea typeface="Lora" panose="00000500000000000000"/>
                <a:cs typeface="Lora" panose="00000500000000000000"/>
                <a:sym typeface="Lora" panose="00000500000000000000"/>
              </a:rPr>
              <a:t> : In addition to BLEU, ROUGE, and METEOR future work can use metrics such as CIDEr, and SPICE. Human evaluation can also help determine whether captions are accurate, understandable, relevant, and useful in real-world situations.</a:t>
            </a:r>
          </a:p>
          <a:p>
            <a:pPr marL="518160" lvl="1" indent="-259080" algn="just">
              <a:lnSpc>
                <a:spcPts val="3360"/>
              </a:lnSpc>
              <a:buAutoNum type="arabicPeriod"/>
            </a:pPr>
            <a:r>
              <a:rPr lang="en-US" sz="2400" b="1">
                <a:solidFill>
                  <a:srgbClr val="FFFFFF"/>
                </a:solidFill>
                <a:latin typeface="Lora Bold" panose="00000800000000000000"/>
                <a:ea typeface="Lora Bold" panose="00000800000000000000"/>
                <a:cs typeface="Lora Bold" panose="00000800000000000000"/>
                <a:sym typeface="Lora Bold" panose="00000800000000000000"/>
              </a:rPr>
              <a:t>Support Multiple Languages :</a:t>
            </a:r>
            <a:r>
              <a:rPr lang="en-US" sz="2400">
                <a:solidFill>
                  <a:srgbClr val="FFFFFF"/>
                </a:solidFill>
                <a:latin typeface="Lora" panose="00000500000000000000"/>
                <a:ea typeface="Lora" panose="00000500000000000000"/>
                <a:cs typeface="Lora" panose="00000500000000000000"/>
                <a:sym typeface="Lora" panose="00000500000000000000"/>
              </a:rPr>
              <a:t> Currently, our model is generating captions in only one language. Future work could support multiple languages, making the system useful to people from different linguistic backgrounds.</a:t>
            </a:r>
          </a:p>
          <a:p>
            <a:pPr algn="just">
              <a:lnSpc>
                <a:spcPts val="3360"/>
              </a:lnSpc>
            </a:pPr>
            <a:endParaRPr lang="en-US" sz="2400">
              <a:solidFill>
                <a:srgbClr val="FFFFFF"/>
              </a:solidFill>
              <a:latin typeface="Lora" panose="00000500000000000000"/>
              <a:ea typeface="Lora" panose="00000500000000000000"/>
              <a:cs typeface="Lora" panose="00000500000000000000"/>
              <a:sym typeface="Lora" panose="00000500000000000000"/>
            </a:endParaRPr>
          </a:p>
          <a:p>
            <a:pPr algn="just">
              <a:lnSpc>
                <a:spcPts val="3360"/>
              </a:lnSpc>
            </a:pPr>
            <a:endParaRPr lang="en-US" sz="2400">
              <a:solidFill>
                <a:srgbClr val="FFFFFF"/>
              </a:solidFill>
              <a:latin typeface="Lora" panose="00000500000000000000"/>
              <a:ea typeface="Lora" panose="00000500000000000000"/>
              <a:cs typeface="Lora" panose="00000500000000000000"/>
              <a:sym typeface="Lora" panose="00000500000000000000"/>
            </a:endParaRPr>
          </a:p>
          <a:p>
            <a:pPr algn="just">
              <a:lnSpc>
                <a:spcPts val="3360"/>
              </a:lnSpc>
            </a:pPr>
            <a:endParaRPr lang="en-US" sz="2400">
              <a:solidFill>
                <a:srgbClr val="FFFFFF"/>
              </a:solidFill>
              <a:latin typeface="Lora" panose="00000500000000000000"/>
              <a:ea typeface="Lora" panose="00000500000000000000"/>
              <a:cs typeface="Lora" panose="00000500000000000000"/>
              <a:sym typeface="Lora" panose="00000500000000000000"/>
            </a:endParaRPr>
          </a:p>
          <a:p>
            <a:pPr algn="just">
              <a:lnSpc>
                <a:spcPts val="3360"/>
              </a:lnSpc>
            </a:pPr>
            <a:endParaRPr lang="en-US" sz="2400">
              <a:solidFill>
                <a:srgbClr val="FFFFFF"/>
              </a:solidFill>
              <a:latin typeface="Lora" panose="00000500000000000000"/>
              <a:ea typeface="Lora" panose="00000500000000000000"/>
              <a:cs typeface="Lora" panose="00000500000000000000"/>
              <a:sym typeface="Lora" panose="00000500000000000000"/>
            </a:endParaRPr>
          </a:p>
          <a:p>
            <a:pPr algn="just">
              <a:lnSpc>
                <a:spcPts val="3360"/>
              </a:lnSpc>
            </a:pPr>
            <a:endParaRPr lang="en-US" sz="2400">
              <a:solidFill>
                <a:srgbClr val="FFFFFF"/>
              </a:solidFill>
              <a:latin typeface="Lora" panose="00000500000000000000"/>
              <a:ea typeface="Lora" panose="00000500000000000000"/>
              <a:cs typeface="Lora" panose="00000500000000000000"/>
              <a:sym typeface="Lora" panose="00000500000000000000"/>
            </a:endParaRPr>
          </a:p>
          <a:p>
            <a:pPr algn="just">
              <a:lnSpc>
                <a:spcPts val="3360"/>
              </a:lnSpc>
            </a:pPr>
            <a:endParaRPr lang="en-US" sz="2400">
              <a:solidFill>
                <a:srgbClr val="FFFFFF"/>
              </a:solidFill>
              <a:latin typeface="Lora" panose="00000500000000000000"/>
              <a:ea typeface="Lora" panose="00000500000000000000"/>
              <a:cs typeface="Lora" panose="00000500000000000000"/>
              <a:sym typeface="Lora" panose="00000500000000000000"/>
            </a:endParaRPr>
          </a:p>
          <a:p>
            <a:pPr algn="just">
              <a:lnSpc>
                <a:spcPts val="3360"/>
              </a:lnSpc>
            </a:pPr>
            <a:endParaRPr lang="en-US" sz="2400">
              <a:solidFill>
                <a:srgbClr val="FFFFFF"/>
              </a:solidFill>
              <a:latin typeface="Lora" panose="00000500000000000000"/>
              <a:ea typeface="Lora" panose="00000500000000000000"/>
              <a:cs typeface="Lora" panose="00000500000000000000"/>
              <a:sym typeface="Lora" panose="00000500000000000000"/>
            </a:endParaRPr>
          </a:p>
          <a:p>
            <a:pPr algn="just">
              <a:lnSpc>
                <a:spcPts val="3360"/>
              </a:lnSpc>
            </a:pPr>
            <a:endParaRPr lang="en-US" sz="2400">
              <a:solidFill>
                <a:srgbClr val="FFFFFF"/>
              </a:solidFill>
              <a:latin typeface="Lora" panose="00000500000000000000"/>
              <a:ea typeface="Lora" panose="00000500000000000000"/>
              <a:cs typeface="Lora" panose="00000500000000000000"/>
              <a:sym typeface="Lora" panose="00000500000000000000"/>
            </a:endParaRPr>
          </a:p>
          <a:p>
            <a:pPr algn="just">
              <a:lnSpc>
                <a:spcPts val="3360"/>
              </a:lnSpc>
            </a:pPr>
            <a:endParaRPr lang="en-US" sz="2400">
              <a:solidFill>
                <a:srgbClr val="FFFFFF"/>
              </a:solidFill>
              <a:latin typeface="Lora" panose="00000500000000000000"/>
              <a:ea typeface="Lora" panose="00000500000000000000"/>
              <a:cs typeface="Lora" panose="00000500000000000000"/>
              <a:sym typeface="Lora" panose="0000050000000000000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67" b="-867"/>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2637</Words>
  <Application>Microsoft Office PowerPoint</Application>
  <PresentationFormat>Custom</PresentationFormat>
  <Paragraphs>177</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Lora Bold</vt:lpstr>
      <vt:lpstr>Calibri</vt:lpstr>
      <vt:lpstr>Canva Sans</vt:lpstr>
      <vt:lpstr>Lora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Group-04_Automatic_ Image_ Captioning</dc:title>
  <dc:creator>Pavaki Maithili</dc:creator>
  <cp:lastModifiedBy>Pavaki Maithili</cp:lastModifiedBy>
  <cp:revision>3</cp:revision>
  <dcterms:created xsi:type="dcterms:W3CDTF">2006-08-16T00:00:00Z</dcterms:created>
  <dcterms:modified xsi:type="dcterms:W3CDTF">2026-10-22T10:25:10Z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2FAF2354DD194449A618C1A13EFFDCD3_12</vt:lpwstr>
  </property>
  <property fmtid="{D5CDD505-2E9C-101B-9397-08002B2CF9AE}" pid="3" name="KSOProductBuildVer">
    <vt:lpwstr>2057-12.2.0.23206</vt:lpwstr>
  </property>
</Properties>
</file>